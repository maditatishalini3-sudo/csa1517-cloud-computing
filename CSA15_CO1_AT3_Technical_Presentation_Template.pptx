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225fa5f2fc453c" /><Relationship Type="http://schemas.openxmlformats.org/officeDocument/2006/relationships/extended-properties" Target="/docProps/app.xml" Id="R3684c6894bc442ee" /><Relationship Type="http://schemas.openxmlformats.org/officeDocument/2006/relationships/officeDocument" Target="/ppt/presentation.xml" Id="R62887b6849dd4d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cc6430daf94106"/>
  </p:sldMasterIdLst>
  <p:notesMasterIdLst>
    <p:notesMasterId xmlns:r="http://schemas.openxmlformats.org/officeDocument/2006/relationships" r:id="R0d0e3536ea72436d"/>
  </p:notesMasterIdLst>
  <p:sldIdLst>
    <p:sldId xmlns:r="http://schemas.openxmlformats.org/officeDocument/2006/relationships" id="256" r:id="R7721297e7b264202"/>
    <p:sldId xmlns:r="http://schemas.openxmlformats.org/officeDocument/2006/relationships" id="257" r:id="Re77dcb116bb540c1"/>
    <p:sldId xmlns:r="http://schemas.openxmlformats.org/officeDocument/2006/relationships" id="258" r:id="R298f1384423e4282"/>
    <p:sldId xmlns:r="http://schemas.openxmlformats.org/officeDocument/2006/relationships" id="259" r:id="R18f2791d80a54416"/>
    <p:sldId xmlns:r="http://schemas.openxmlformats.org/officeDocument/2006/relationships" id="260" r:id="R7394abf412e6436e"/>
    <p:sldId xmlns:r="http://schemas.openxmlformats.org/officeDocument/2006/relationships" id="261" r:id="Ra7c89aa8d2944f27"/>
    <p:sldId xmlns:r="http://schemas.openxmlformats.org/officeDocument/2006/relationships" id="262" r:id="R0a52bd088b3d4312"/>
    <p:sldId xmlns:r="http://schemas.openxmlformats.org/officeDocument/2006/relationships" id="263" r:id="Rceae39d0748442b3"/>
    <p:sldId xmlns:r="http://schemas.openxmlformats.org/officeDocument/2006/relationships" id="264" r:id="R5330ea08d1224142"/>
    <p:sldId xmlns:r="http://schemas.openxmlformats.org/officeDocument/2006/relationships" id="265" r:id="R17ccfe2f75494eff"/>
    <p:sldId xmlns:r="http://schemas.openxmlformats.org/officeDocument/2006/relationships" id="266" r:id="R4fab595abcc449af"/>
    <p:sldId xmlns:r="http://schemas.openxmlformats.org/officeDocument/2006/relationships" id="267" r:id="Rbc2e410b458f41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29efcaa1884529" /><Relationship Type="http://schemas.openxmlformats.org/officeDocument/2006/relationships/slideMaster" Target="/ppt/slideMasters/slideMaster1.xml" Id="R2acc6430daf94106" /><Relationship Type="http://schemas.openxmlformats.org/officeDocument/2006/relationships/notesMaster" Target="/ppt/notesMasters/notesMaster1.xml" Id="R0d0e3536ea72436d" /><Relationship Type="http://schemas.openxmlformats.org/officeDocument/2006/relationships/presProps" Target="/ppt/presProps.xml" Id="R453be2c30c194538" /><Relationship Type="http://schemas.openxmlformats.org/officeDocument/2006/relationships/tableStyles" Target="/ppt/tableStyles.xml" Id="R5214e5abd60b4528" /><Relationship Type="http://schemas.openxmlformats.org/officeDocument/2006/relationships/slide" Target="/ppt/slides/slide1.xml" Id="R7721297e7b264202" /><Relationship Type="http://schemas.openxmlformats.org/officeDocument/2006/relationships/slide" Target="/ppt/slides/slide2.xml" Id="Re77dcb116bb540c1" /><Relationship Type="http://schemas.openxmlformats.org/officeDocument/2006/relationships/slide" Target="/ppt/slides/slide3.xml" Id="R298f1384423e4282" /><Relationship Type="http://schemas.openxmlformats.org/officeDocument/2006/relationships/slide" Target="/ppt/slides/slide4.xml" Id="R18f2791d80a54416" /><Relationship Type="http://schemas.openxmlformats.org/officeDocument/2006/relationships/slide" Target="/ppt/slides/slide5.xml" Id="R7394abf412e6436e" /><Relationship Type="http://schemas.openxmlformats.org/officeDocument/2006/relationships/slide" Target="/ppt/slides/slide6.xml" Id="Ra7c89aa8d2944f27" /><Relationship Type="http://schemas.openxmlformats.org/officeDocument/2006/relationships/slide" Target="/ppt/slides/slide7.xml" Id="R0a52bd088b3d4312" /><Relationship Type="http://schemas.openxmlformats.org/officeDocument/2006/relationships/slide" Target="/ppt/slides/slide8.xml" Id="Rceae39d0748442b3" /><Relationship Type="http://schemas.openxmlformats.org/officeDocument/2006/relationships/slide" Target="/ppt/slides/slide9.xml" Id="R5330ea08d1224142" /><Relationship Type="http://schemas.openxmlformats.org/officeDocument/2006/relationships/slide" Target="/ppt/slides/slide10.xml" Id="R17ccfe2f75494eff" /><Relationship Type="http://schemas.openxmlformats.org/officeDocument/2006/relationships/slide" Target="/ppt/slides/slide11.xml" Id="R4fab595abcc449af" /><Relationship Type="http://schemas.openxmlformats.org/officeDocument/2006/relationships/slide" Target="/ppt/slides/slide12.xml" Id="Rbc2e410b458f41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a54040c24e48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8f6aa354bf410a" /><Relationship Type="http://schemas.openxmlformats.org/officeDocument/2006/relationships/notesMaster" Target="/ppt/notesMasters/notesMaster1.xml" Id="Re82384ab70a045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a1bedd39014075" /><Relationship Type="http://schemas.openxmlformats.org/officeDocument/2006/relationships/notesMaster" Target="/ppt/notesMasters/notesMaster1.xml" Id="R41f87b6a493342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3703caccca4931" /><Relationship Type="http://schemas.openxmlformats.org/officeDocument/2006/relationships/notesMaster" Target="/ppt/notesMasters/notesMaster1.xml" Id="R46e4a26b60b24c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a89004edc443e7" /><Relationship Type="http://schemas.openxmlformats.org/officeDocument/2006/relationships/notesMaster" Target="/ppt/notesMasters/notesMaster1.xml" Id="R1c64fd1480f044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2783e897344fa0" /><Relationship Type="http://schemas.openxmlformats.org/officeDocument/2006/relationships/notesMaster" Target="/ppt/notesMasters/notesMaster1.xml" Id="R0e02ebc4ad1a46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1386c6454d4568" /><Relationship Type="http://schemas.openxmlformats.org/officeDocument/2006/relationships/notesMaster" Target="/ppt/notesMasters/notesMaster1.xml" Id="R4c7a1ff7e97c47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9dc4915c9a4a7f" /><Relationship Type="http://schemas.openxmlformats.org/officeDocument/2006/relationships/notesMaster" Target="/ppt/notesMasters/notesMaster1.xml" Id="Rc04b0c493aff4c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c5ca10298d4ea2" /><Relationship Type="http://schemas.openxmlformats.org/officeDocument/2006/relationships/notesMaster" Target="/ppt/notesMasters/notesMaster1.xml" Id="R3d2cd45a25a741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a2fac23b624dc2" /><Relationship Type="http://schemas.openxmlformats.org/officeDocument/2006/relationships/notesMaster" Target="/ppt/notesMasters/notesMaster1.xml" Id="R865f2d092e604b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b5e5c1c1d84e08" /><Relationship Type="http://schemas.openxmlformats.org/officeDocument/2006/relationships/notesMaster" Target="/ppt/notesMasters/notesMaster1.xml" Id="R90e77c5706a54a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8f8f4cd09849d4" /><Relationship Type="http://schemas.openxmlformats.org/officeDocument/2006/relationships/notesMaster" Target="/ppt/notesMasters/notesMaster1.xml" Id="R429d0440649248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91018e17fe40c8" /><Relationship Type="http://schemas.openxmlformats.org/officeDocument/2006/relationships/notesMaster" Target="/ppt/notesMasters/notesMaster1.xml" Id="R5cfec64969204c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capstone problem and the cloud product objective. Keep the title slide uncluttered and clearly identify the individual presenter.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start with technology. First make the need clear, then connect it to cloud-enabled scale, reach, or reliability.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explain the concept map as a reasoning artifact, not as decoration.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user request to API, compute, data, storage, analytics, monitoring, and security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student to defend provider responsibility and student responsibility for the selected service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Big data analytics is optional, but a thoughtful data path is expected.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AI is not required, students can present a Python automation or analytics module instead.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where students show engineering judgment instead of simply listing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should be specific and inspectable, not a generic list of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storyboard helps the faculty see whether the cloud architecture is connected to actual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can use this as the self-check slide before presenting the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ending should synthesize learning, not just say thank you.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d66ff6eb841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6248d4dbbf4989" /><Relationship Type="http://schemas.openxmlformats.org/officeDocument/2006/relationships/slideLayout" Target="/ppt/slideLayouts/slideLayout1.xml" Id="R45bb6239264647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bb6239264647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b69b150a84613" /><Relationship Type="http://schemas.openxmlformats.org/officeDocument/2006/relationships/image" Target="/ppt/media/image.png" Id="R9764a366a26e4a78" /><Relationship Type="http://schemas.openxmlformats.org/officeDocument/2006/relationships/notesSlide" Target="/ppt/notesSlides/notesSlide1.xml" Id="Rf259dd96145d42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b334e29584bd3" /><Relationship Type="http://schemas.openxmlformats.org/officeDocument/2006/relationships/image" Target="/ppt/media/image2.png" Id="R6f0d0746078a464d" /><Relationship Type="http://schemas.openxmlformats.org/officeDocument/2006/relationships/notesSlide" Target="/ppt/notesSlides/notesSlide2.xml" Id="R3ff009f5946a46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938bde3ea4431" /><Relationship Type="http://schemas.openxmlformats.org/officeDocument/2006/relationships/image" Target="/ppt/media/image3.png" Id="R5ed91cd5c89c441a" /><Relationship Type="http://schemas.openxmlformats.org/officeDocument/2006/relationships/notesSlide" Target="/ppt/notesSlides/notesSlide3.xml" Id="Raa5f64a7130e44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b3d61cb9e4028" /><Relationship Type="http://schemas.openxmlformats.org/officeDocument/2006/relationships/image" Target="/ppt/media/image4.png" Id="R5ab7d677984b474b" /><Relationship Type="http://schemas.openxmlformats.org/officeDocument/2006/relationships/notesSlide" Target="/ppt/notesSlides/notesSlide4.xml" Id="R046f7b2bcbb843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d635749374505" /><Relationship Type="http://schemas.openxmlformats.org/officeDocument/2006/relationships/image" Target="/ppt/media/image5.png" Id="R90c1e52b55ce4a48" /><Relationship Type="http://schemas.openxmlformats.org/officeDocument/2006/relationships/notesSlide" Target="/ppt/notesSlides/notesSlide5.xml" Id="R1092ad90c9094f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66a051a194aff" /><Relationship Type="http://schemas.openxmlformats.org/officeDocument/2006/relationships/image" Target="/ppt/media/image6.png" Id="Refa9e3a19c5e4fb6" /><Relationship Type="http://schemas.openxmlformats.org/officeDocument/2006/relationships/notesSlide" Target="/ppt/notesSlides/notesSlide6.xml" Id="R766a29d21f8843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c45f9c8184b12" /><Relationship Type="http://schemas.openxmlformats.org/officeDocument/2006/relationships/image" Target="/ppt/media/image7.png" Id="Rccadedabe11b4bc5" /><Relationship Type="http://schemas.openxmlformats.org/officeDocument/2006/relationships/notesSlide" Target="/ppt/notesSlides/notesSlide7.xml" Id="R9e5cf04c4b1840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db1e4baf643b1" /><Relationship Type="http://schemas.openxmlformats.org/officeDocument/2006/relationships/image" Target="/ppt/media/image8.png" Id="R551277c4863d460c" /><Relationship Type="http://schemas.openxmlformats.org/officeDocument/2006/relationships/notesSlide" Target="/ppt/notesSlides/notesSlide8.xml" Id="R6e5672cf78864f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3c001c8b44404" /><Relationship Type="http://schemas.openxmlformats.org/officeDocument/2006/relationships/image" Target="/ppt/media/image9.png" Id="Rb93e8f31edf64ac5" /><Relationship Type="http://schemas.openxmlformats.org/officeDocument/2006/relationships/notesSlide" Target="/ppt/notesSlides/notesSlide9.xml" Id="R041d664844e248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27ef0d1f74804" /><Relationship Type="http://schemas.openxmlformats.org/officeDocument/2006/relationships/image" Target="/ppt/media/image10.png" Id="R578a7072cbc446f9" /><Relationship Type="http://schemas.openxmlformats.org/officeDocument/2006/relationships/notesSlide" Target="/ppt/notesSlides/notesSlide10.xml" Id="R4986bdfa7f2c47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b00e1cd634e78" /><Relationship Type="http://schemas.openxmlformats.org/officeDocument/2006/relationships/image" Target="/ppt/media/image11.png" Id="Rabbdcdd1f9384da4" /><Relationship Type="http://schemas.openxmlformats.org/officeDocument/2006/relationships/notesSlide" Target="/ppt/notesSlides/notesSlide11.xml" Id="R2bcda39d1dd844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7a268c6ea4c15" /><Relationship Type="http://schemas.openxmlformats.org/officeDocument/2006/relationships/image" Target="/ppt/media/image12.png" Id="R9f0752e75b9e4dab" /><Relationship Type="http://schemas.openxmlformats.org/officeDocument/2006/relationships/notesSlide" Target="/ppt/notesSlides/notesSlide12.xml" Id="Re7441255ea4942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9B06142E-F3CC-4E89-A281-53042868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FBBB93F-E538-466F-9325-4747C622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4a366a26e4a78"/>
          <a:stretch xmlns:a="http://schemas.openxmlformats.org/drawingml/2006/main"/>
        </p:blipFill>
        <p:spPr>
          <a:xfrm xmlns:a="http://schemas.openxmlformats.org/drawingml/2006/main">
            <a:off x="609600" y="255890"/>
            <a:ext cx="2095500" cy="26927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76D79-8908-4DC4-B5C8-858390D7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F38E9-3B26-4A19-ACE5-AD065980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585A9-5C58-4449-9975-A6CF3477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5DBF7-058E-46C6-9F2D-D5FDFAC0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676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E79"/>
                </a:solidFill>
              </a:defRPr>
            </a:pPr>
            <a:r>
              <a:rPr sz="2625" b="1">
                <a:solidFill>
                  <a:srgbClr val="1F4E79"/>
                </a:solidFill>
              </a:rPr>
              <a:t>CSA15 Cloud Computing and Big Data Analytics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C6B21-16D4-49F1-A77F-ECF66E82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690"/>
                </a:solidFill>
              </a:defRPr>
            </a:pPr>
            <a:r>
              <a:rPr sz="2250" b="1">
                <a:solidFill>
                  <a:srgbClr val="2F6690"/>
                </a:solidFill>
              </a:rPr>
              <a:t>Capstone Cloud Technical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9F22E-023E-450B-B79F-DC3B43B0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Individual Student Presentation Deck</a:t>
            </a:r>
          </a:p>
        </p:txBody>
      </p:sp>
      <p:sp>
        <p:nvSpPr>
          <p:cNvPr id="10" name="Presenter Details-panel">
            <a:extLst xmlns:a="http://schemas.openxmlformats.org/drawingml/2006/main">
              <a:ext uri="{FF2B5EF4-FFF2-40B4-BE49-F238E27FC236}">
                <a16:creationId xmlns:a16="http://schemas.microsoft.com/office/drawing/2014/main" id="{026FC1EB-45C7-4E91-8A1F-CB548C0E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43000"/>
            <a:ext cx="3714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Presenter Details-bar">
            <a:extLst xmlns:a="http://schemas.openxmlformats.org/drawingml/2006/main">
              <a:ext uri="{FF2B5EF4-FFF2-40B4-BE49-F238E27FC236}">
                <a16:creationId xmlns:a16="http://schemas.microsoft.com/office/drawing/2014/main" id="{4020DDA8-1B21-47A7-B591-7FEA9A0D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43000"/>
            <a:ext cx="3714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DB28C-ABEE-4AF3-BA11-2EE572ED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33350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Presenter Details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EAB4F-93DD-48B8-A590-506DB84E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33550"/>
            <a:ext cx="33718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Student Name: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Register Number: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Class / Section / Slot: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Capstone Title: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Selected SDG Goal(s):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Cloud Platform / Tools:</a:t>
            </a:r>
          </a:p>
        </p:txBody>
      </p:sp>
      <p:sp>
        <p:nvSpPr>
          <p:cNvPr id="14" name="Presentation Focus-panel">
            <a:extLst xmlns:a="http://schemas.openxmlformats.org/drawingml/2006/main">
              <a:ext uri="{FF2B5EF4-FFF2-40B4-BE49-F238E27FC236}">
                <a16:creationId xmlns:a16="http://schemas.microsoft.com/office/drawing/2014/main" id="{E007A704-136A-4772-8136-228D179D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19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Presentation Focus-bar">
            <a:extLst xmlns:a="http://schemas.openxmlformats.org/drawingml/2006/main">
              <a:ext uri="{FF2B5EF4-FFF2-40B4-BE49-F238E27FC236}">
                <a16:creationId xmlns:a16="http://schemas.microsoft.com/office/drawing/2014/main" id="{9A8B55DD-C50D-4EBE-8D42-09C3AFEB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19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838D8-68FD-440F-850D-39E535D1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584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Presentation Focus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EF82A-E5D0-4E9F-A5DA-524FFCCB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584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Present your capstone as a cloud-backed product. Explain the problem, architecture, service choices, evidence, and CO1 learning clearly.</a:t>
            </a:r>
          </a:p>
        </p:txBody>
      </p:sp>
      <p:sp>
        <p:nvSpPr>
          <p:cNvPr id="18" name="delete-guidance-tab">
            <a:extLst xmlns:a="http://schemas.openxmlformats.org/drawingml/2006/main">
              <a:ext uri="{FF2B5EF4-FFF2-40B4-BE49-F238E27FC236}">
                <a16:creationId xmlns:a16="http://schemas.microsoft.com/office/drawing/2014/main" id="{4CBB8EDF-4D5D-4A08-9265-F9F37E5E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9A1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04E61-CCCA-4C4F-9D06-18B4BFE5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34075"/>
            <a:ext cx="998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8A4B18"/>
                </a:solidFill>
              </a:defRPr>
            </a:pPr>
            <a:r>
              <a:rPr sz="1013" b="1">
                <a:solidFill>
                  <a:srgbClr val="8A4B18"/>
                </a:solidFill>
              </a:rPr>
              <a:t>Guidance - delete before presentation: Fill presenter details, then delete this orange guidance tab from every slide before final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5781211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96C9DB65-EE41-42F0-BFE5-904DABBE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445C730-48FC-4ED5-833B-7BABEB75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d0746078a464d"/>
          <a:stretch xmlns:a="http://schemas.openxmlformats.org/drawingml/2006/main"/>
        </p:blipFill>
        <p:spPr>
          <a:xfrm xmlns:a="http://schemas.openxmlformats.org/drawingml/2006/main">
            <a:off x="609600" y="255890"/>
            <a:ext cx="2095500" cy="26927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FAC00-DF58-47FE-AB94-47E359D7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F8C21-8D23-4B2E-9161-570DB0F1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02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ECFF0D-00D3-4164-A882-67A9D7F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Problem Context and Stakeholder Mapping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3D6BBF0-0811-4AEC-859E-4DA22E45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capstone begins with a real problem to solve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F1429-DBD5-4810-8A9E-4BDCFD84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 xmlns:a="http://schemas.openxmlformats.org/drawingml/2006/main">
              <a:ext uri="{FF2B5EF4-FFF2-40B4-BE49-F238E27FC236}">
                <a16:creationId xmlns:a16="http://schemas.microsoft.com/office/drawing/2014/main" id="{7FC94C92-DF64-4CF0-B9BD-F9EC6736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ection-accent-0">
            <a:extLst xmlns:a="http://schemas.openxmlformats.org/drawingml/2006/main">
              <a:ext uri="{FF2B5EF4-FFF2-40B4-BE49-F238E27FC236}">
                <a16:creationId xmlns:a16="http://schemas.microsoft.com/office/drawing/2014/main" id="{AE17465D-DDD4-4D5A-8D25-CDB85D1C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0FA6E-534E-43E6-9AFE-6FF331BC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Problem Statement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572FD-23A2-4D9E-B0F0-5EAD7E36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What real-world problem does the product solve?</a:t>
            </a:r>
          </a:p>
        </p:txBody>
      </p:sp>
      <p:sp>
        <p:nvSpPr>
          <p:cNvPr id="13" name="section-1">
            <a:extLst xmlns:a="http://schemas.openxmlformats.org/drawingml/2006/main">
              <a:ext uri="{FF2B5EF4-FFF2-40B4-BE49-F238E27FC236}">
                <a16:creationId xmlns:a16="http://schemas.microsoft.com/office/drawing/2014/main" id="{9D084BCD-5716-402F-B3A0-2A076BC5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section-accent-1">
            <a:extLst xmlns:a="http://schemas.openxmlformats.org/drawingml/2006/main">
              <a:ext uri="{FF2B5EF4-FFF2-40B4-BE49-F238E27FC236}">
                <a16:creationId xmlns:a16="http://schemas.microsoft.com/office/drawing/2014/main" id="{86914AF8-382F-4D7B-907C-C2366F43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25EDB-E709-4E43-96E5-D6EDAF43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Target 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4DFDB-00F0-4005-8DF1-0D3DA623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Who will use the product and what changes for them?</a:t>
            </a:r>
          </a:p>
        </p:txBody>
      </p:sp>
      <p:sp>
        <p:nvSpPr>
          <p:cNvPr id="17" name="section-2">
            <a:extLst xmlns:a="http://schemas.openxmlformats.org/drawingml/2006/main">
              <a:ext uri="{FF2B5EF4-FFF2-40B4-BE49-F238E27FC236}">
                <a16:creationId xmlns:a16="http://schemas.microsoft.com/office/drawing/2014/main" id="{70F04CCC-E97C-41A2-B092-AFCB6DD5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ection-accent-2">
            <a:extLst xmlns:a="http://schemas.openxmlformats.org/drawingml/2006/main">
              <a:ext uri="{FF2B5EF4-FFF2-40B4-BE49-F238E27FC236}">
                <a16:creationId xmlns:a16="http://schemas.microsoft.com/office/drawing/2014/main" id="{F7B70109-28C0-4258-BA36-191215A7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8F"/>
          </a:solidFill>
          <a:ln xmlns:a="http://schemas.openxmlformats.org/drawingml/2006/main" w="9525">
            <a:solidFill>
              <a:srgbClr val="466A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5DCFC-21FC-46E7-9B67-E602B967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SDG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E0334-3323-4CFE-94F0-2F8ED78D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Which SDG goal is connected to the capstone outcome?</a:t>
            </a:r>
          </a:p>
        </p:txBody>
      </p:sp>
      <p:sp>
        <p:nvSpPr>
          <p:cNvPr id="21" name="section-3">
            <a:extLst xmlns:a="http://schemas.openxmlformats.org/drawingml/2006/main">
              <a:ext uri="{FF2B5EF4-FFF2-40B4-BE49-F238E27FC236}">
                <a16:creationId xmlns:a16="http://schemas.microsoft.com/office/drawing/2014/main" id="{85879376-A892-4DF8-9128-A8E1660A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section-accent-3">
            <a:extLst xmlns:a="http://schemas.openxmlformats.org/drawingml/2006/main">
              <a:ext uri="{FF2B5EF4-FFF2-40B4-BE49-F238E27FC236}">
                <a16:creationId xmlns:a16="http://schemas.microsoft.com/office/drawing/2014/main" id="{21AB52B8-D3E6-47FF-930D-8711AE53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D"/>
          </a:solidFill>
          <a:ln xmlns:a="http://schemas.openxmlformats.org/drawingml/2006/main" w="9525">
            <a:solidFill>
              <a:srgbClr val="7C95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23AF1-3C13-4CD3-9871-9E66177F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Product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BB5DB-1B85-40AB-987A-C4EBE771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29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What is included in the first usable version?</a:t>
            </a:r>
          </a:p>
        </p:txBody>
      </p:sp>
      <p:sp>
        <p:nvSpPr>
          <p:cNvPr id="25" name="delete-guidance-tab">
            <a:extLst xmlns:a="http://schemas.openxmlformats.org/drawingml/2006/main">
              <a:ext uri="{FF2B5EF4-FFF2-40B4-BE49-F238E27FC236}">
                <a16:creationId xmlns:a16="http://schemas.microsoft.com/office/drawing/2014/main" id="{C0C4629F-5217-4838-8B5B-39416E50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9A1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3D4B39-C935-4F54-B25D-6BD3F7D1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34075"/>
            <a:ext cx="998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8A4B18"/>
                </a:solidFill>
              </a:defRPr>
            </a:pPr>
            <a:r>
              <a:rPr sz="1013" b="1">
                <a:solidFill>
                  <a:srgbClr val="8A4B18"/>
                </a:solidFill>
              </a:rPr>
              <a:t>Guidance - delete before presentation: Keep the slide short. Present the problem orally with one example, not a long paragraph.</a:t>
            </a:r>
          </a:p>
        </p:txBody>
      </p:sp>
    </p:spTree>
    <p:extLst>
      <p:ext uri="{BB962C8B-B14F-4D97-AF65-F5344CB8AC3E}">
        <p14:creationId xmlns:p14="http://schemas.microsoft.com/office/powerpoint/2010/main" val="45716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974609AC-A313-48C7-8EA0-BBF476F6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A920F6A-C07B-4196-A050-460A5D99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91cd5c89c441a"/>
          <a:stretch xmlns:a="http://schemas.openxmlformats.org/drawingml/2006/main"/>
        </p:blipFill>
        <p:spPr>
          <a:xfrm xmlns:a="http://schemas.openxmlformats.org/drawingml/2006/main">
            <a:off x="609600" y="255890"/>
            <a:ext cx="2095500" cy="26927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16B80-1792-4781-BFC1-FAF90935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E820C-4148-4DB8-B64F-5C6F1F2B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B130A9-B3CC-401F-BB50-852F20F1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Cloud Adoption Rationale and Concept Map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10A7ED-2B78-4A4A-90E9-BD3BF1EC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problem needs cloud support to become a usable 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5E963-F0EF-47C4-A912-34B4F75F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Cloud Definition-panel">
            <a:extLst xmlns:a="http://schemas.openxmlformats.org/drawingml/2006/main">
              <a:ext uri="{FF2B5EF4-FFF2-40B4-BE49-F238E27FC236}">
                <a16:creationId xmlns:a16="http://schemas.microsoft.com/office/drawing/2014/main" id="{AD218011-A380-4A51-97A6-CD9CB6F2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Cloud Definition-bar">
            <a:extLst xmlns:a="http://schemas.openxmlformats.org/drawingml/2006/main">
              <a:ext uri="{FF2B5EF4-FFF2-40B4-BE49-F238E27FC236}">
                <a16:creationId xmlns:a16="http://schemas.microsoft.com/office/drawing/2014/main" id="{1D76A136-FBE0-431C-98E9-7A1C4C1E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0D074-C946-43C4-BB0E-CEB59319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Cloud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75EB4-D131-4811-8DC0-D7793D91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441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 cloud using your capstone context.</a:t>
            </a:r>
          </a:p>
        </p:txBody>
      </p:sp>
      <p:sp>
        <p:nvSpPr>
          <p:cNvPr id="13" name="Cloud Characteristics-panel">
            <a:extLst xmlns:a="http://schemas.openxmlformats.org/drawingml/2006/main">
              <a:ext uri="{FF2B5EF4-FFF2-40B4-BE49-F238E27FC236}">
                <a16:creationId xmlns:a16="http://schemas.microsoft.com/office/drawing/2014/main" id="{70001ADB-8876-4971-BEC4-E866A0AF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loud Characteristics-bar">
            <a:extLst xmlns:a="http://schemas.openxmlformats.org/drawingml/2006/main">
              <a:ext uri="{FF2B5EF4-FFF2-40B4-BE49-F238E27FC236}">
                <a16:creationId xmlns:a16="http://schemas.microsoft.com/office/drawing/2014/main" id="{FD3C8DA8-4FF3-4301-A34B-28F066B4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50A08-F926-4019-8E7C-1EC6387A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Cloud Characteristics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62589-88ED-47BF-94B0-87157FCB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441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Elasticity, scalability, measured service, resource pooling.</a:t>
            </a:r>
          </a:p>
        </p:txBody>
      </p:sp>
      <p:sp>
        <p:nvSpPr>
          <p:cNvPr id="17" name="Cloud Concept Map-placeholder">
            <a:extLst xmlns:a="http://schemas.openxmlformats.org/drawingml/2006/main">
              <a:ext uri="{FF2B5EF4-FFF2-40B4-BE49-F238E27FC236}">
                <a16:creationId xmlns:a16="http://schemas.microsoft.com/office/drawing/2014/main" id="{7F8A432F-7645-40C1-8F55-5A0E337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47625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046DD-29ED-4FE8-A690-9E086501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7165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Cloud Concept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25000-FD0E-43BD-896D-9A28AAD1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44196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Place a clean concept map that links cloud ecosystem, API role, service models, elasticity, and your capstone modules.</a:t>
            </a:r>
          </a:p>
        </p:txBody>
      </p:sp>
      <p:sp>
        <p:nvSpPr>
          <p:cNvPr id="20" name="delete-guidance-tab">
            <a:extLst xmlns:a="http://schemas.openxmlformats.org/drawingml/2006/main">
              <a:ext uri="{FF2B5EF4-FFF2-40B4-BE49-F238E27FC236}">
                <a16:creationId xmlns:a16="http://schemas.microsoft.com/office/drawing/2014/main" id="{1A90C175-FB2E-4135-827A-98E4FCB5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9A1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F77853-005F-4B0A-9964-5048E951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34075"/>
            <a:ext cx="998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8A4B18"/>
                </a:solidFill>
              </a:defRPr>
            </a:pPr>
            <a:r>
              <a:rPr sz="1013" b="1">
                <a:solidFill>
                  <a:srgbClr val="8A4B18"/>
                </a:solidFill>
              </a:rPr>
              <a:t>Guidance - delete before presentation: Use the concept map as a speaking aid. Do not overload it with tiny text.</a:t>
            </a:r>
          </a:p>
        </p:txBody>
      </p:sp>
    </p:spTree>
    <p:extLst>
      <p:ext uri="{BB962C8B-B14F-4D97-AF65-F5344CB8AC3E}">
        <p14:creationId xmlns:p14="http://schemas.microsoft.com/office/powerpoint/2010/main" val="15420206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1D66A06A-C5A7-4E4D-A8CE-7C9B1905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4C954A4-927B-4AC4-9924-6F902FEE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7d677984b474b"/>
          <a:stretch xmlns:a="http://schemas.openxmlformats.org/drawingml/2006/main"/>
        </p:blipFill>
        <p:spPr>
          <a:xfrm xmlns:a="http://schemas.openxmlformats.org/drawingml/2006/main">
            <a:off x="609600" y="255890"/>
            <a:ext cx="2095500" cy="26927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838C1-A11A-4414-87AB-5CC3F480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A233D-7AAC-457D-8EE8-53298704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04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744D09-7E8F-4E38-A4E0-C83DB520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Capstone Cloud Architecture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98078CA-0B46-401C-AB41-764E38C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cloud architecture connects the user action to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16EFB-9229-4F23-BCB6-205E81C4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node-User App / Web App">
            <a:extLst xmlns:a="http://schemas.openxmlformats.org/drawingml/2006/main">
              <a:ext uri="{FF2B5EF4-FFF2-40B4-BE49-F238E27FC236}">
                <a16:creationId xmlns:a16="http://schemas.microsoft.com/office/drawing/2014/main" id="{EACDBA85-7487-4017-953D-61DBA096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3940F-2555-48FB-BCB3-1F2AACE2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3362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User App / Web App</a:t>
            </a:r>
          </a:p>
        </p:txBody>
      </p:sp>
      <p:sp>
        <p:nvSpPr>
          <p:cNvPr id="11" name="node-Auth + API Gateway">
            <a:extLst xmlns:a="http://schemas.openxmlformats.org/drawingml/2006/main">
              <a:ext uri="{FF2B5EF4-FFF2-40B4-BE49-F238E27FC236}">
                <a16:creationId xmlns:a16="http://schemas.microsoft.com/office/drawing/2014/main" id="{87E92863-AD60-495C-AADD-91A384C2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C21A1-B18B-4A65-8F8C-205AFA4C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3362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Auth + API Gateway</a:t>
            </a:r>
          </a:p>
        </p:txBody>
      </p:sp>
      <p:sp>
        <p:nvSpPr>
          <p:cNvPr id="13" name="node-Backend Services">
            <a:extLst xmlns:a="http://schemas.openxmlformats.org/drawingml/2006/main">
              <a:ext uri="{FF2B5EF4-FFF2-40B4-BE49-F238E27FC236}">
                <a16:creationId xmlns:a16="http://schemas.microsoft.com/office/drawing/2014/main" id="{04963F9D-7FA8-4665-A892-A5BDBB61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67580-1FAC-4EC1-9AB5-6F3691EE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3362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Backend Services</a:t>
            </a:r>
          </a:p>
        </p:txBody>
      </p:sp>
      <p:sp>
        <p:nvSpPr>
          <p:cNvPr id="15" name="node-Database / Storage">
            <a:extLst xmlns:a="http://schemas.openxmlformats.org/drawingml/2006/main">
              <a:ext uri="{FF2B5EF4-FFF2-40B4-BE49-F238E27FC236}">
                <a16:creationId xmlns:a16="http://schemas.microsoft.com/office/drawing/2014/main" id="{A1308B74-DC77-45C4-9B6F-DD51C2BA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DC625-A1AB-437B-80C5-58754B80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33362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Database / Storage</a:t>
            </a:r>
          </a:p>
        </p:txBody>
      </p:sp>
      <p:sp>
        <p:nvSpPr>
          <p:cNvPr id="17" name="node-Analytics + Monitoring">
            <a:extLst xmlns:a="http://schemas.openxmlformats.org/drawingml/2006/main">
              <a:ext uri="{FF2B5EF4-FFF2-40B4-BE49-F238E27FC236}">
                <a16:creationId xmlns:a16="http://schemas.microsoft.com/office/drawing/2014/main" id="{4380B6FE-32B1-44A0-97E0-A5D51527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8DB00-1377-461E-8F1E-77DB71A5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5287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Analytics + Monitoring</a:t>
            </a:r>
          </a:p>
        </p:txBody>
      </p:sp>
      <p:sp>
        <p:nvSpPr>
          <p:cNvPr id="19" name="connector-0">
            <a:extLst xmlns:a="http://schemas.openxmlformats.org/drawingml/2006/main">
              <a:ext uri="{FF2B5EF4-FFF2-40B4-BE49-F238E27FC236}">
                <a16:creationId xmlns:a16="http://schemas.microsoft.com/office/drawing/2014/main" id="{160F1515-0328-4EC6-9B05-EC27A316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20" name="connector-1">
            <a:extLst xmlns:a="http://schemas.openxmlformats.org/drawingml/2006/main">
              <a:ext uri="{FF2B5EF4-FFF2-40B4-BE49-F238E27FC236}">
                <a16:creationId xmlns:a16="http://schemas.microsoft.com/office/drawing/2014/main" id="{45889F11-5C3A-42C8-AFEF-DC1C97A8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955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21" name="connector-2">
            <a:extLst xmlns:a="http://schemas.openxmlformats.org/drawingml/2006/main">
              <a:ext uri="{FF2B5EF4-FFF2-40B4-BE49-F238E27FC236}">
                <a16:creationId xmlns:a16="http://schemas.microsoft.com/office/drawing/2014/main" id="{ECD5CB34-B648-4051-B6F5-E14E391E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95550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22" name="connector-3">
            <a:extLst xmlns:a="http://schemas.openxmlformats.org/drawingml/2006/main">
              <a:ext uri="{FF2B5EF4-FFF2-40B4-BE49-F238E27FC236}">
                <a16:creationId xmlns:a16="http://schemas.microsoft.com/office/drawing/2014/main" id="{F9B09679-850F-42B6-9A08-BC04ACAF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19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3697CD-AA55-4D07-A30B-D5EE0D16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3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Scaling 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5091E-3DB7-4057-83B8-81F6CE21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67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Security boundary</a:t>
            </a:r>
          </a:p>
        </p:txBody>
      </p:sp>
      <p:sp>
        <p:nvSpPr>
          <p:cNvPr id="25" name="security-line">
            <a:extLst xmlns:a="http://schemas.openxmlformats.org/drawingml/2006/main">
              <a:ext uri="{FF2B5EF4-FFF2-40B4-BE49-F238E27FC236}">
                <a16:creationId xmlns:a16="http://schemas.microsoft.com/office/drawing/2014/main" id="{2607C141-1BAC-4641-92F6-D9A95D5B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704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9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26" name="Presentation Points-panel">
            <a:extLst xmlns:a="http://schemas.openxmlformats.org/drawingml/2006/main">
              <a:ext uri="{FF2B5EF4-FFF2-40B4-BE49-F238E27FC236}">
                <a16:creationId xmlns:a16="http://schemas.microsoft.com/office/drawing/2014/main" id="{33D0CD2A-25EE-4F01-997F-C943CE40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381250" cy="32004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resentation Points-bar">
            <a:extLst xmlns:a="http://schemas.openxmlformats.org/drawingml/2006/main">
              <a:ext uri="{FF2B5EF4-FFF2-40B4-BE49-F238E27FC236}">
                <a16:creationId xmlns:a16="http://schemas.microsoft.com/office/drawing/2014/main" id="{D7F8F7F5-A99D-4D11-9335-59920878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6A26BB-3599-41AF-9C67-EA8C283B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71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Presentation Points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1215E2-E3FF-4B0F-AE6F-7ED91E6A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20383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Request path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API role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Compute choice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Database and storage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Monitoring and security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Scaling point</a:t>
            </a:r>
          </a:p>
        </p:txBody>
      </p:sp>
      <p:sp>
        <p:nvSpPr>
          <p:cNvPr id="30" name="delete-guidance-tab">
            <a:extLst xmlns:a="http://schemas.openxmlformats.org/drawingml/2006/main">
              <a:ext uri="{FF2B5EF4-FFF2-40B4-BE49-F238E27FC236}">
                <a16:creationId xmlns:a16="http://schemas.microsoft.com/office/drawing/2014/main" id="{A71AA76F-6AE5-444C-A4E3-15419F39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9A15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5FD869-ADB1-40E3-8D9E-DB222AE3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34075"/>
            <a:ext cx="998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8A4B18"/>
                </a:solidFill>
              </a:defRPr>
            </a:pPr>
            <a:r>
              <a:rPr sz="1013" b="1">
                <a:solidFill>
                  <a:srgbClr val="8A4B18"/>
                </a:solidFill>
              </a:rPr>
              <a:t>Guidance - delete before presentation: Explain the request path from user to cloud services. Replace sample labels with your actual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9655133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E73E8211-DA2A-43AB-911C-32A8E679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08F5DAD-D39C-4DDD-A72E-B8A153A7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1e52b55ce4a48"/>
          <a:stretch xmlns:a="http://schemas.openxmlformats.org/drawingml/2006/main"/>
        </p:blipFill>
        <p:spPr>
          <a:xfrm xmlns:a="http://schemas.openxmlformats.org/drawingml/2006/main">
            <a:off x="609600" y="255890"/>
            <a:ext cx="2095500" cy="26927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BF307-B1AE-456D-ADEC-6420F0E5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C4318-C5C0-494C-A6DF-3A32B83D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05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5E3FBE-FCCC-46DD-9B70-5C198AB8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Cloud Service Model Responsibility Matrix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2756C12-5071-4899-B869-07422F60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Each service model defines what we control and what cloud manages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8AE18-B094-4A00-AA00-D422FDB4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matrix-h-0">
            <a:extLst xmlns:a="http://schemas.openxmlformats.org/drawingml/2006/main">
              <a:ext uri="{FF2B5EF4-FFF2-40B4-BE49-F238E27FC236}">
                <a16:creationId xmlns:a16="http://schemas.microsoft.com/office/drawing/2014/main" id="{A229115E-24C9-4616-91FD-8FB68CAC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EFBDF-85FD-4B9C-AA77-541DCA32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Service area</a:t>
            </a:r>
          </a:p>
        </p:txBody>
      </p:sp>
      <p:sp>
        <p:nvSpPr>
          <p:cNvPr id="11" name="matrix-h-1">
            <a:extLst xmlns:a="http://schemas.openxmlformats.org/drawingml/2006/main">
              <a:ext uri="{FF2B5EF4-FFF2-40B4-BE49-F238E27FC236}">
                <a16:creationId xmlns:a16="http://schemas.microsoft.com/office/drawing/2014/main" id="{315036C7-9B5B-48EB-A55E-416B796D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09750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AA9BF-76AF-400A-8020-A6728319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716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3" name="matrix-h-2">
            <a:extLst xmlns:a="http://schemas.openxmlformats.org/drawingml/2006/main">
              <a:ext uri="{FF2B5EF4-FFF2-40B4-BE49-F238E27FC236}">
                <a16:creationId xmlns:a16="http://schemas.microsoft.com/office/drawing/2014/main" id="{4CB7D827-DE4B-40FE-B471-038FC4C7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F3AB9-42A2-43E4-9E55-3CA75C69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7167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Provider manages</a:t>
            </a:r>
          </a:p>
        </p:txBody>
      </p:sp>
      <p:sp>
        <p:nvSpPr>
          <p:cNvPr id="15" name="matrix-h-3">
            <a:extLst xmlns:a="http://schemas.openxmlformats.org/drawingml/2006/main">
              <a:ext uri="{FF2B5EF4-FFF2-40B4-BE49-F238E27FC236}">
                <a16:creationId xmlns:a16="http://schemas.microsoft.com/office/drawing/2014/main" id="{4A3014B9-845A-4978-8212-36CC6DD4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097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649C8-C4E0-46EC-B2C2-38689DD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7167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Student team manages</a:t>
            </a:r>
          </a:p>
        </p:txBody>
      </p:sp>
      <p:sp>
        <p:nvSpPr>
          <p:cNvPr id="17" name="matrix-h-4">
            <a:extLst xmlns:a="http://schemas.openxmlformats.org/drawingml/2006/main">
              <a:ext uri="{FF2B5EF4-FFF2-40B4-BE49-F238E27FC236}">
                <a16:creationId xmlns:a16="http://schemas.microsoft.com/office/drawing/2014/main" id="{71ADDB46-5E42-4E6E-BC74-3A55885B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0CF3B-EC9B-4174-8938-E369A3E8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716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Why this fits</a:t>
            </a:r>
          </a:p>
        </p:txBody>
      </p:sp>
      <p:sp>
        <p:nvSpPr>
          <p:cNvPr id="19" name="matrix-0-0">
            <a:extLst xmlns:a="http://schemas.openxmlformats.org/drawingml/2006/main">
              <a:ext uri="{FF2B5EF4-FFF2-40B4-BE49-F238E27FC236}">
                <a16:creationId xmlns:a16="http://schemas.microsoft.com/office/drawing/2014/main" id="{2A2A6832-5994-4014-92E3-706CDD93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9A69B-F0D8-4BC9-B394-6625C3DA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</a:rPr>
              <a:t>Frontend hosting</a:t>
            </a:r>
          </a:p>
        </p:txBody>
      </p:sp>
      <p:sp>
        <p:nvSpPr>
          <p:cNvPr id="21" name="matrix-0-1">
            <a:extLst xmlns:a="http://schemas.openxmlformats.org/drawingml/2006/main">
              <a:ext uri="{FF2B5EF4-FFF2-40B4-BE49-F238E27FC236}">
                <a16:creationId xmlns:a16="http://schemas.microsoft.com/office/drawing/2014/main" id="{AB776307-4DAD-44D5-8AB2-BFAF605F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050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22" name="matrix-0-2">
            <a:extLst xmlns:a="http://schemas.openxmlformats.org/drawingml/2006/main">
              <a:ext uri="{FF2B5EF4-FFF2-40B4-BE49-F238E27FC236}">
                <a16:creationId xmlns:a16="http://schemas.microsoft.com/office/drawing/2014/main" id="{E7F2C1EF-15A6-4C7D-A2A2-94AED886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050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23" name="matrix-0-3">
            <a:extLst xmlns:a="http://schemas.openxmlformats.org/drawingml/2006/main">
              <a:ext uri="{FF2B5EF4-FFF2-40B4-BE49-F238E27FC236}">
                <a16:creationId xmlns:a16="http://schemas.microsoft.com/office/drawing/2014/main" id="{E5B2053C-2515-4B50-9A7B-2B4929F7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050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24" name="matrix-0-4">
            <a:extLst xmlns:a="http://schemas.openxmlformats.org/drawingml/2006/main">
              <a:ext uri="{FF2B5EF4-FFF2-40B4-BE49-F238E27FC236}">
                <a16:creationId xmlns:a16="http://schemas.microsoft.com/office/drawing/2014/main" id="{0AE5325C-C4F2-423F-9840-ED64D521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25" name="matrix-1-0">
            <a:extLst xmlns:a="http://schemas.openxmlformats.org/drawingml/2006/main">
              <a:ext uri="{FF2B5EF4-FFF2-40B4-BE49-F238E27FC236}">
                <a16:creationId xmlns:a16="http://schemas.microsoft.com/office/drawing/2014/main" id="{3C965920-8C7D-4CC9-A7B0-C0FB8D77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A6833-8B1C-4849-A33E-BBB60C84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</a:rPr>
              <a:t>Backend/API</a:t>
            </a:r>
          </a:p>
        </p:txBody>
      </p:sp>
      <p:sp>
        <p:nvSpPr>
          <p:cNvPr id="27" name="matrix-1-1">
            <a:extLst xmlns:a="http://schemas.openxmlformats.org/drawingml/2006/main">
              <a:ext uri="{FF2B5EF4-FFF2-40B4-BE49-F238E27FC236}">
                <a16:creationId xmlns:a16="http://schemas.microsoft.com/office/drawing/2014/main" id="{CE12EE63-0772-433D-9232-3660B48D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003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28" name="matrix-1-2">
            <a:extLst xmlns:a="http://schemas.openxmlformats.org/drawingml/2006/main">
              <a:ext uri="{FF2B5EF4-FFF2-40B4-BE49-F238E27FC236}">
                <a16:creationId xmlns:a16="http://schemas.microsoft.com/office/drawing/2014/main" id="{0995E668-FBBC-42DC-8DCF-C12CAC6B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03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29" name="matrix-1-3">
            <a:extLst xmlns:a="http://schemas.openxmlformats.org/drawingml/2006/main">
              <a:ext uri="{FF2B5EF4-FFF2-40B4-BE49-F238E27FC236}">
                <a16:creationId xmlns:a16="http://schemas.microsoft.com/office/drawing/2014/main" id="{923A8FDB-1B56-416A-A78C-B411C5D1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003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30" name="matrix-1-4">
            <a:extLst xmlns:a="http://schemas.openxmlformats.org/drawingml/2006/main">
              <a:ext uri="{FF2B5EF4-FFF2-40B4-BE49-F238E27FC236}">
                <a16:creationId xmlns:a16="http://schemas.microsoft.com/office/drawing/2014/main" id="{CE9BD42B-A09C-4153-B7F7-9FE2CD06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31" name="matrix-2-0">
            <a:extLst xmlns:a="http://schemas.openxmlformats.org/drawingml/2006/main">
              <a:ext uri="{FF2B5EF4-FFF2-40B4-BE49-F238E27FC236}">
                <a16:creationId xmlns:a16="http://schemas.microsoft.com/office/drawing/2014/main" id="{83DACA9B-6694-4818-A4CF-B5E64656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4CFC5D-2F34-4DDD-867B-BEBD3F52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</a:rPr>
              <a:t>Database</a:t>
            </a:r>
          </a:p>
        </p:txBody>
      </p:sp>
      <p:sp>
        <p:nvSpPr>
          <p:cNvPr id="33" name="matrix-2-1">
            <a:extLst xmlns:a="http://schemas.openxmlformats.org/drawingml/2006/main">
              <a:ext uri="{FF2B5EF4-FFF2-40B4-BE49-F238E27FC236}">
                <a16:creationId xmlns:a16="http://schemas.microsoft.com/office/drawing/2014/main" id="{9819A267-5E6B-4AED-BB93-7A2231B1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956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34" name="matrix-2-2">
            <a:extLst xmlns:a="http://schemas.openxmlformats.org/drawingml/2006/main">
              <a:ext uri="{FF2B5EF4-FFF2-40B4-BE49-F238E27FC236}">
                <a16:creationId xmlns:a16="http://schemas.microsoft.com/office/drawing/2014/main" id="{77FB67FD-11B8-456D-AC64-FD8D023E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956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35" name="matrix-2-3">
            <a:extLst xmlns:a="http://schemas.openxmlformats.org/drawingml/2006/main">
              <a:ext uri="{FF2B5EF4-FFF2-40B4-BE49-F238E27FC236}">
                <a16:creationId xmlns:a16="http://schemas.microsoft.com/office/drawing/2014/main" id="{565C4631-32FD-47DA-9B44-5913128A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956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36" name="matrix-2-4">
            <a:extLst xmlns:a="http://schemas.openxmlformats.org/drawingml/2006/main">
              <a:ext uri="{FF2B5EF4-FFF2-40B4-BE49-F238E27FC236}">
                <a16:creationId xmlns:a16="http://schemas.microsoft.com/office/drawing/2014/main" id="{2C2A972E-6F23-4030-93D1-2C69445A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956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37" name="matrix-3-0">
            <a:extLst xmlns:a="http://schemas.openxmlformats.org/drawingml/2006/main">
              <a:ext uri="{FF2B5EF4-FFF2-40B4-BE49-F238E27FC236}">
                <a16:creationId xmlns:a16="http://schemas.microsoft.com/office/drawing/2014/main" id="{24BF2AEF-12EB-4094-81A3-08D56D49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646109-6E39-4773-B165-1ADD27FC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</a:rPr>
              <a:t>Storage</a:t>
            </a:r>
          </a:p>
        </p:txBody>
      </p:sp>
      <p:sp>
        <p:nvSpPr>
          <p:cNvPr id="39" name="matrix-3-1">
            <a:extLst xmlns:a="http://schemas.openxmlformats.org/drawingml/2006/main">
              <a:ext uri="{FF2B5EF4-FFF2-40B4-BE49-F238E27FC236}">
                <a16:creationId xmlns:a16="http://schemas.microsoft.com/office/drawing/2014/main" id="{C3DA8404-0206-4745-B1CA-5A4EAF55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909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40" name="matrix-3-2">
            <a:extLst xmlns:a="http://schemas.openxmlformats.org/drawingml/2006/main">
              <a:ext uri="{FF2B5EF4-FFF2-40B4-BE49-F238E27FC236}">
                <a16:creationId xmlns:a16="http://schemas.microsoft.com/office/drawing/2014/main" id="{51B5DBEF-8E4D-468C-A884-3A2BA89F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909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41" name="matrix-3-3">
            <a:extLst xmlns:a="http://schemas.openxmlformats.org/drawingml/2006/main">
              <a:ext uri="{FF2B5EF4-FFF2-40B4-BE49-F238E27FC236}">
                <a16:creationId xmlns:a16="http://schemas.microsoft.com/office/drawing/2014/main" id="{7D0A1D7F-8EB0-42C7-A599-13E8F262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909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42" name="matrix-3-4">
            <a:extLst xmlns:a="http://schemas.openxmlformats.org/drawingml/2006/main">
              <a:ext uri="{FF2B5EF4-FFF2-40B4-BE49-F238E27FC236}">
                <a16:creationId xmlns:a16="http://schemas.microsoft.com/office/drawing/2014/main" id="{43CFB2A6-3DB4-463F-B10A-97A4D448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43" name="matrix-4-0">
            <a:extLst xmlns:a="http://schemas.openxmlformats.org/drawingml/2006/main">
              <a:ext uri="{FF2B5EF4-FFF2-40B4-BE49-F238E27FC236}">
                <a16:creationId xmlns:a16="http://schemas.microsoft.com/office/drawing/2014/main" id="{AA211760-7F64-49D3-AE24-A6BC4778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CC4DD9-E94F-4E6C-A5E5-EEC5282B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</a:rPr>
              <a:t>Monitoring / logs</a:t>
            </a:r>
          </a:p>
        </p:txBody>
      </p:sp>
      <p:sp>
        <p:nvSpPr>
          <p:cNvPr id="45" name="matrix-4-1">
            <a:extLst xmlns:a="http://schemas.openxmlformats.org/drawingml/2006/main">
              <a:ext uri="{FF2B5EF4-FFF2-40B4-BE49-F238E27FC236}">
                <a16:creationId xmlns:a16="http://schemas.microsoft.com/office/drawing/2014/main" id="{860FAE59-03EB-410F-96B2-845B85EF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862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46" name="matrix-4-2">
            <a:extLst xmlns:a="http://schemas.openxmlformats.org/drawingml/2006/main">
              <a:ext uri="{FF2B5EF4-FFF2-40B4-BE49-F238E27FC236}">
                <a16:creationId xmlns:a16="http://schemas.microsoft.com/office/drawing/2014/main" id="{30955654-3ED8-48CF-8025-E6DE7467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86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47" name="matrix-4-3">
            <a:extLst xmlns:a="http://schemas.openxmlformats.org/drawingml/2006/main">
              <a:ext uri="{FF2B5EF4-FFF2-40B4-BE49-F238E27FC236}">
                <a16:creationId xmlns:a16="http://schemas.microsoft.com/office/drawing/2014/main" id="{6DBFE25C-B07B-4513-8C93-821D5C3F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862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48" name="matrix-4-4">
            <a:extLst xmlns:a="http://schemas.openxmlformats.org/drawingml/2006/main">
              <a:ext uri="{FF2B5EF4-FFF2-40B4-BE49-F238E27FC236}">
                <a16:creationId xmlns:a16="http://schemas.microsoft.com/office/drawing/2014/main" id="{AF409F69-802F-4545-AE66-6D196E74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49" name="matrix-5-0">
            <a:extLst xmlns:a="http://schemas.openxmlformats.org/drawingml/2006/main">
              <a:ext uri="{FF2B5EF4-FFF2-40B4-BE49-F238E27FC236}">
                <a16:creationId xmlns:a16="http://schemas.microsoft.com/office/drawing/2014/main" id="{B339E379-E6AC-4DEA-8F68-736FBBB0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C779A0-4A54-4DE3-9F6D-91C63D5F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</a:rPr>
              <a:t>Security / IAM</a:t>
            </a:r>
          </a:p>
        </p:txBody>
      </p:sp>
      <p:sp>
        <p:nvSpPr>
          <p:cNvPr id="51" name="matrix-5-1">
            <a:extLst xmlns:a="http://schemas.openxmlformats.org/drawingml/2006/main">
              <a:ext uri="{FF2B5EF4-FFF2-40B4-BE49-F238E27FC236}">
                <a16:creationId xmlns:a16="http://schemas.microsoft.com/office/drawing/2014/main" id="{47B889D9-8B45-4829-A303-F81FD6D2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815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52" name="matrix-5-2">
            <a:extLst xmlns:a="http://schemas.openxmlformats.org/drawingml/2006/main">
              <a:ext uri="{FF2B5EF4-FFF2-40B4-BE49-F238E27FC236}">
                <a16:creationId xmlns:a16="http://schemas.microsoft.com/office/drawing/2014/main" id="{3D431073-8F3C-436C-AA00-424BC8DA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815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53" name="matrix-5-3">
            <a:extLst xmlns:a="http://schemas.openxmlformats.org/drawingml/2006/main">
              <a:ext uri="{FF2B5EF4-FFF2-40B4-BE49-F238E27FC236}">
                <a16:creationId xmlns:a16="http://schemas.microsoft.com/office/drawing/2014/main" id="{20619562-A8E4-403B-80F2-DED10005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815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54" name="matrix-5-4">
            <a:extLst xmlns:a="http://schemas.openxmlformats.org/drawingml/2006/main">
              <a:ext uri="{FF2B5EF4-FFF2-40B4-BE49-F238E27FC236}">
                <a16:creationId xmlns:a16="http://schemas.microsoft.com/office/drawing/2014/main" id="{322EB9B4-C93D-4FB0-BC72-97E0F7EC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815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55" name="delete-guidance-tab">
            <a:extLst xmlns:a="http://schemas.openxmlformats.org/drawingml/2006/main">
              <a:ext uri="{FF2B5EF4-FFF2-40B4-BE49-F238E27FC236}">
                <a16:creationId xmlns:a16="http://schemas.microsoft.com/office/drawing/2014/main" id="{982BF4CE-7799-4539-8137-BE77C617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9A15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8195DB-2AD8-4593-B7C3-ABA3A0B9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34075"/>
            <a:ext cx="998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8A4B18"/>
                </a:solidFill>
              </a:defRPr>
            </a:pPr>
            <a:r>
              <a:rPr sz="1013" b="1">
                <a:solidFill>
                  <a:srgbClr val="8A4B18"/>
                </a:solidFill>
              </a:rPr>
              <a:t>Guidance - delete before presentation: Mention only services that fit your capstone. Defend responsibility split orally.</a:t>
            </a:r>
          </a:p>
        </p:txBody>
      </p:sp>
    </p:spTree>
    <p:extLst>
      <p:ext uri="{BB962C8B-B14F-4D97-AF65-F5344CB8AC3E}">
        <p14:creationId xmlns:p14="http://schemas.microsoft.com/office/powerpoint/2010/main" val="259652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490435BE-16F9-461B-9144-348E8B21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3D32F10-ADC2-4C1B-8DBD-D1D1F4E7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9e3a19c5e4fb6"/>
          <a:stretch xmlns:a="http://schemas.openxmlformats.org/drawingml/2006/main"/>
        </p:blipFill>
        <p:spPr>
          <a:xfrm xmlns:a="http://schemas.openxmlformats.org/drawingml/2006/main">
            <a:off x="609600" y="255890"/>
            <a:ext cx="2095500" cy="26927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3394C-55A1-4C46-9928-17FA2387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0FBDD-EA7A-44FA-AB80-B1E44799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2E8BF4-729E-4440-BBB6-DEEE48B9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Data Flow and Analytics Pipeline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84D230-DA62-482F-9424-BEA84108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product data moves from user activity to useful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7C1B9-192C-4248-95B4-D8D75A02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flow-0">
            <a:extLst xmlns:a="http://schemas.openxmlformats.org/drawingml/2006/main">
              <a:ext uri="{FF2B5EF4-FFF2-40B4-BE49-F238E27FC236}">
                <a16:creationId xmlns:a16="http://schemas.microsoft.com/office/drawing/2014/main" id="{59A983DF-25EF-430F-9EB2-451803C6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352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5A595-EDC2-4FC0-BF0B-1C6A3050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Collect</a:t>
            </a:r>
          </a:p>
        </p:txBody>
      </p:sp>
      <p:sp>
        <p:nvSpPr>
          <p:cNvPr id="11" name="flow-line-0">
            <a:extLst xmlns:a="http://schemas.openxmlformats.org/drawingml/2006/main">
              <a:ext uri="{FF2B5EF4-FFF2-40B4-BE49-F238E27FC236}">
                <a16:creationId xmlns:a16="http://schemas.microsoft.com/office/drawing/2014/main" id="{9054445D-59BB-4415-B747-A5304F19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002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2" name="flow-1">
            <a:extLst xmlns:a="http://schemas.openxmlformats.org/drawingml/2006/main">
              <a:ext uri="{FF2B5EF4-FFF2-40B4-BE49-F238E27FC236}">
                <a16:creationId xmlns:a16="http://schemas.microsoft.com/office/drawing/2014/main" id="{F8A7DBA2-55D1-46B1-AB5D-7D296DE6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95450"/>
            <a:ext cx="1352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66FD8-E1A0-4DE5-AE42-45AF7E82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0500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Ingest</a:t>
            </a:r>
          </a:p>
        </p:txBody>
      </p:sp>
      <p:sp>
        <p:nvSpPr>
          <p:cNvPr id="14" name="flow-line-1">
            <a:extLst xmlns:a="http://schemas.openxmlformats.org/drawingml/2006/main">
              <a:ext uri="{FF2B5EF4-FFF2-40B4-BE49-F238E27FC236}">
                <a16:creationId xmlns:a16="http://schemas.microsoft.com/office/drawing/2014/main" id="{18A32F96-72A7-4173-B050-FDC783A5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5" name="flow-2">
            <a:extLst xmlns:a="http://schemas.openxmlformats.org/drawingml/2006/main">
              <a:ext uri="{FF2B5EF4-FFF2-40B4-BE49-F238E27FC236}">
                <a16:creationId xmlns:a16="http://schemas.microsoft.com/office/drawing/2014/main" id="{A1A4D867-8EE0-4A2E-880E-A67E656B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95450"/>
            <a:ext cx="1352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1ED43-8E89-4B22-8DE1-D29792BE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Store</a:t>
            </a:r>
          </a:p>
        </p:txBody>
      </p:sp>
      <p:sp>
        <p:nvSpPr>
          <p:cNvPr id="17" name="flow-line-2">
            <a:extLst xmlns:a="http://schemas.openxmlformats.org/drawingml/2006/main">
              <a:ext uri="{FF2B5EF4-FFF2-40B4-BE49-F238E27FC236}">
                <a16:creationId xmlns:a16="http://schemas.microsoft.com/office/drawing/2014/main" id="{043ACE97-A0F5-47B1-BD21-F489AB8C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8" name="flow-3">
            <a:extLst xmlns:a="http://schemas.openxmlformats.org/drawingml/2006/main">
              <a:ext uri="{FF2B5EF4-FFF2-40B4-BE49-F238E27FC236}">
                <a16:creationId xmlns:a16="http://schemas.microsoft.com/office/drawing/2014/main" id="{3102D06E-CAC1-4305-A435-57DBBC3E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95450"/>
            <a:ext cx="1352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CB1F1F-EADF-4759-8AC1-8207B43D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0500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Process</a:t>
            </a:r>
          </a:p>
        </p:txBody>
      </p:sp>
      <p:sp>
        <p:nvSpPr>
          <p:cNvPr id="20" name="flow-line-3">
            <a:extLst xmlns:a="http://schemas.openxmlformats.org/drawingml/2006/main">
              <a:ext uri="{FF2B5EF4-FFF2-40B4-BE49-F238E27FC236}">
                <a16:creationId xmlns:a16="http://schemas.microsoft.com/office/drawing/2014/main" id="{C4B97E98-5C2C-4DBD-AB30-5B8F7B30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002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21" name="flow-4">
            <a:extLst xmlns:a="http://schemas.openxmlformats.org/drawingml/2006/main">
              <a:ext uri="{FF2B5EF4-FFF2-40B4-BE49-F238E27FC236}">
                <a16:creationId xmlns:a16="http://schemas.microsoft.com/office/drawing/2014/main" id="{3C79B7D0-9CAB-4B9B-AC74-A54B5262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95450"/>
            <a:ext cx="1352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B96D5-F452-468F-9243-AD810193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0500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Visualize</a:t>
            </a:r>
          </a:p>
        </p:txBody>
      </p:sp>
      <p:sp>
        <p:nvSpPr>
          <p:cNvPr id="23" name="Data Requirements-panel">
            <a:extLst xmlns:a="http://schemas.openxmlformats.org/drawingml/2006/main">
              <a:ext uri="{FF2B5EF4-FFF2-40B4-BE49-F238E27FC236}">
                <a16:creationId xmlns:a16="http://schemas.microsoft.com/office/drawing/2014/main" id="{0F14B31E-3381-4009-9103-CD77641C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Data Requirements-bar">
            <a:extLst xmlns:a="http://schemas.openxmlformats.org/drawingml/2006/main">
              <a:ext uri="{FF2B5EF4-FFF2-40B4-BE49-F238E27FC236}">
                <a16:creationId xmlns:a16="http://schemas.microsoft.com/office/drawing/2014/main" id="{20441772-C8B8-4917-BE73-D4CAAD95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F46A62-0F3B-44B1-970D-850F2A45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Data Requirements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365F3E-6456-4FBD-97D1-EB52686A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User data, events, logs, files, sensor data, or transactions.</a:t>
            </a:r>
          </a:p>
        </p:txBody>
      </p:sp>
      <p:sp>
        <p:nvSpPr>
          <p:cNvPr id="27" name="Analytics Requirement-panel">
            <a:extLst xmlns:a="http://schemas.openxmlformats.org/drawingml/2006/main">
              <a:ext uri="{FF2B5EF4-FFF2-40B4-BE49-F238E27FC236}">
                <a16:creationId xmlns:a16="http://schemas.microsoft.com/office/drawing/2014/main" id="{A861FFB3-AC08-4C2F-8C75-811B1C88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385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Analytics Requirement-bar">
            <a:extLst xmlns:a="http://schemas.openxmlformats.org/drawingml/2006/main">
              <a:ext uri="{FF2B5EF4-FFF2-40B4-BE49-F238E27FC236}">
                <a16:creationId xmlns:a16="http://schemas.microsoft.com/office/drawing/2014/main" id="{3157AA82-1D79-4D36-9B7D-1320B25E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385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4E1DC4-8F5F-4913-96E4-E3B63BA5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290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Analytics Requirement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9E2CB7-A08F-4DF5-A69C-E118394E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Dashboard, alert, prediction, report, trend, or decision support.</a:t>
            </a:r>
          </a:p>
        </p:txBody>
      </p:sp>
      <p:sp>
        <p:nvSpPr>
          <p:cNvPr id="31" name="Proof Required-panel">
            <a:extLst xmlns:a="http://schemas.openxmlformats.org/drawingml/2006/main">
              <a:ext uri="{FF2B5EF4-FFF2-40B4-BE49-F238E27FC236}">
                <a16:creationId xmlns:a16="http://schemas.microsoft.com/office/drawing/2014/main" id="{FEA050D7-4443-45CB-8E55-FD51DFE2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Proof Required-bar">
            <a:extLst xmlns:a="http://schemas.openxmlformats.org/drawingml/2006/main">
              <a:ext uri="{FF2B5EF4-FFF2-40B4-BE49-F238E27FC236}">
                <a16:creationId xmlns:a16="http://schemas.microsoft.com/office/drawing/2014/main" id="{A2840EDC-E927-4F99-BB20-4231A322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09E2CC-7A3A-4580-8621-28B5D294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290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Proof Required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72BC5B-C57C-4720-9DF1-AD6F483A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Sample input, sample output, and one insight generated.</a:t>
            </a:r>
          </a:p>
        </p:txBody>
      </p:sp>
      <p:sp>
        <p:nvSpPr>
          <p:cNvPr id="35" name="delete-guidance-tab">
            <a:extLst xmlns:a="http://schemas.openxmlformats.org/drawingml/2006/main">
              <a:ext uri="{FF2B5EF4-FFF2-40B4-BE49-F238E27FC236}">
                <a16:creationId xmlns:a16="http://schemas.microsoft.com/office/drawing/2014/main" id="{3AE0E820-DA6D-429C-A03E-5EC9BCCF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9A15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AB45E9-B2DC-4EDA-A898-3E02D5D3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34075"/>
            <a:ext cx="998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8A4B18"/>
                </a:solidFill>
              </a:defRPr>
            </a:pPr>
            <a:r>
              <a:rPr sz="1013" b="1">
                <a:solidFill>
                  <a:srgbClr val="8A4B18"/>
                </a:solidFill>
              </a:rPr>
              <a:t>Guidance - delete before presentation: Show the data story. Big data analytics is optional, but the data path must be logical.</a:t>
            </a:r>
          </a:p>
        </p:txBody>
      </p:sp>
    </p:spTree>
    <p:extLst>
      <p:ext uri="{BB962C8B-B14F-4D97-AF65-F5344CB8AC3E}">
        <p14:creationId xmlns:p14="http://schemas.microsoft.com/office/powerpoint/2010/main" val="5068950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3A77E155-AA61-4441-96A8-F3DF1035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23D32FEB-6865-4151-A78E-2CD9B242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dedabe11b4bc5"/>
          <a:stretch xmlns:a="http://schemas.openxmlformats.org/drawingml/2006/main"/>
        </p:blipFill>
        <p:spPr>
          <a:xfrm xmlns:a="http://schemas.openxmlformats.org/drawingml/2006/main">
            <a:off x="609600" y="255890"/>
            <a:ext cx="2095500" cy="26927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4881F-BB19-4417-B5DC-FA80E5BE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10057-90FC-4C9C-A597-26116A7C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07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9C88C1-065F-48D7-9109-5C769A84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Python / AI Module Integration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236DBD-2870-47F1-A6D1-519BBFB9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Python or AI adds intelligence where the product needs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525D2-583E-43D2-8B2E-D33B098B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 xmlns:a="http://schemas.openxmlformats.org/drawingml/2006/main">
              <a:ext uri="{FF2B5EF4-FFF2-40B4-BE49-F238E27FC236}">
                <a16:creationId xmlns:a16="http://schemas.microsoft.com/office/drawing/2014/main" id="{4DED0DB8-D08A-414F-877D-87C627F8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ection-accent-0">
            <a:extLst xmlns:a="http://schemas.openxmlformats.org/drawingml/2006/main">
              <a:ext uri="{FF2B5EF4-FFF2-40B4-BE49-F238E27FC236}">
                <a16:creationId xmlns:a16="http://schemas.microsoft.com/office/drawing/2014/main" id="{1E74EBE4-F91B-4BD2-A53A-A368DF2F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F9AD8-F62C-4A95-A4F5-4B12C5E4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Python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280A5-E1FE-4725-9611-EE07B057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Prediction, automation, analytics, OCR, NLP, or reporting.</a:t>
            </a:r>
          </a:p>
        </p:txBody>
      </p:sp>
      <p:sp>
        <p:nvSpPr>
          <p:cNvPr id="13" name="section-1">
            <a:extLst xmlns:a="http://schemas.openxmlformats.org/drawingml/2006/main">
              <a:ext uri="{FF2B5EF4-FFF2-40B4-BE49-F238E27FC236}">
                <a16:creationId xmlns:a16="http://schemas.microsoft.com/office/drawing/2014/main" id="{8C640DC4-F5BA-4296-8EC6-32E5C678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section-accent-1">
            <a:extLst xmlns:a="http://schemas.openxmlformats.org/drawingml/2006/main">
              <a:ext uri="{FF2B5EF4-FFF2-40B4-BE49-F238E27FC236}">
                <a16:creationId xmlns:a16="http://schemas.microsoft.com/office/drawing/2014/main" id="{0158330C-EE7C-4461-8FDA-D1AB11F8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CF643-F7D0-45DF-836A-C3018045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Input and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21F66-068F-456B-AE23-A7F00D62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What data enters the module and what result comes out?</a:t>
            </a:r>
          </a:p>
        </p:txBody>
      </p:sp>
      <p:sp>
        <p:nvSpPr>
          <p:cNvPr id="17" name="section-2">
            <a:extLst xmlns:a="http://schemas.openxmlformats.org/drawingml/2006/main">
              <a:ext uri="{FF2B5EF4-FFF2-40B4-BE49-F238E27FC236}">
                <a16:creationId xmlns:a16="http://schemas.microsoft.com/office/drawing/2014/main" id="{F8A14566-57B5-4DAD-A594-20B6FBC6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ection-accent-2">
            <a:extLst xmlns:a="http://schemas.openxmlformats.org/drawingml/2006/main">
              <a:ext uri="{FF2B5EF4-FFF2-40B4-BE49-F238E27FC236}">
                <a16:creationId xmlns:a16="http://schemas.microsoft.com/office/drawing/2014/main" id="{AC9644CC-9AB0-4EE9-AB8C-E95134E0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8F"/>
          </a:solidFill>
          <a:ln xmlns:a="http://schemas.openxmlformats.org/drawingml/2006/main" w="9525">
            <a:solidFill>
              <a:srgbClr val="466A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36268-AEC7-43F2-A772-ABABCF1B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Execution 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08C78-4763-44CE-ACEB-4CD16275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API endpoint, serverless function, container, notebook, or scheduled job.</a:t>
            </a:r>
          </a:p>
        </p:txBody>
      </p:sp>
      <p:sp>
        <p:nvSpPr>
          <p:cNvPr id="21" name="section-3">
            <a:extLst xmlns:a="http://schemas.openxmlformats.org/drawingml/2006/main">
              <a:ext uri="{FF2B5EF4-FFF2-40B4-BE49-F238E27FC236}">
                <a16:creationId xmlns:a16="http://schemas.microsoft.com/office/drawing/2014/main" id="{B6DA6401-CC23-4CE1-A62F-95945AC5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section-accent-3">
            <a:extLst xmlns:a="http://schemas.openxmlformats.org/drawingml/2006/main">
              <a:ext uri="{FF2B5EF4-FFF2-40B4-BE49-F238E27FC236}">
                <a16:creationId xmlns:a16="http://schemas.microsoft.com/office/drawing/2014/main" id="{1C7559D1-D007-4454-AC69-1C468035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D"/>
          </a:solidFill>
          <a:ln xmlns:a="http://schemas.openxmlformats.org/drawingml/2006/main" w="9525">
            <a:solidFill>
              <a:srgbClr val="7C95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F101C-0146-4BA7-8156-04E109C0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Product 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2A8EE3-CBE1-4A61-9259-6F7F4B0A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29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How does this module improve user experience or decision-making?</a:t>
            </a:r>
          </a:p>
        </p:txBody>
      </p:sp>
      <p:sp>
        <p:nvSpPr>
          <p:cNvPr id="25" name="delete-guidance-tab">
            <a:extLst xmlns:a="http://schemas.openxmlformats.org/drawingml/2006/main">
              <a:ext uri="{FF2B5EF4-FFF2-40B4-BE49-F238E27FC236}">
                <a16:creationId xmlns:a16="http://schemas.microsoft.com/office/drawing/2014/main" id="{C3571405-B370-490A-9697-6C701FF4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9A1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C40E03-F670-41CF-A242-82B0802C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34075"/>
            <a:ext cx="998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8A4B18"/>
                </a:solidFill>
              </a:defRPr>
            </a:pPr>
            <a:r>
              <a:rPr sz="1013" b="1">
                <a:solidFill>
                  <a:srgbClr val="8A4B18"/>
                </a:solidFill>
              </a:rPr>
              <a:t>Guidance - delete before presentation: If AI is not needed, present a Python automation or analytics component.</a:t>
            </a:r>
          </a:p>
        </p:txBody>
      </p:sp>
    </p:spTree>
    <p:extLst>
      <p:ext uri="{BB962C8B-B14F-4D97-AF65-F5344CB8AC3E}">
        <p14:creationId xmlns:p14="http://schemas.microsoft.com/office/powerpoint/2010/main" val="2839083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ABC2BFBE-9EE9-4E14-936D-F4E61ACE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0FB4462-59D4-4617-A99A-7B3C2F5B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277c4863d460c"/>
          <a:stretch xmlns:a="http://schemas.openxmlformats.org/drawingml/2006/main"/>
        </p:blipFill>
        <p:spPr>
          <a:xfrm xmlns:a="http://schemas.openxmlformats.org/drawingml/2006/main">
            <a:off x="609600" y="255890"/>
            <a:ext cx="2095500" cy="26927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96ADD-1D5E-44DC-8146-4252F03D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A268A-3E62-466E-AB81-9ACF2558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08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FE0825-71A3-4FFF-8C47-970CB576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Security, Scalability, Privacy and Cost Design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D7D8447-81D5-4430-8608-2E6EE3CC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Security, scale, privacy and cost shape the final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2D878-9EDF-4BFB-B721-808083B2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 xmlns:a="http://schemas.openxmlformats.org/drawingml/2006/main">
              <a:ext uri="{FF2B5EF4-FFF2-40B4-BE49-F238E27FC236}">
                <a16:creationId xmlns:a16="http://schemas.microsoft.com/office/drawing/2014/main" id="{55830AD0-F6BF-481E-B057-5BC56ABA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ection-accent-0">
            <a:extLst xmlns:a="http://schemas.openxmlformats.org/drawingml/2006/main">
              <a:ext uri="{FF2B5EF4-FFF2-40B4-BE49-F238E27FC236}">
                <a16:creationId xmlns:a16="http://schemas.microsoft.com/office/drawing/2014/main" id="{E7A9B6CD-BBD2-422C-998A-BE2F5F08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BC80C-4926-4297-AC8A-832F5E24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F09A6-E567-4FB4-B8BD-7C659BB2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Authentication, roles, validation, audit trail.</a:t>
            </a:r>
          </a:p>
        </p:txBody>
      </p:sp>
      <p:sp>
        <p:nvSpPr>
          <p:cNvPr id="13" name="section-1">
            <a:extLst xmlns:a="http://schemas.openxmlformats.org/drawingml/2006/main">
              <a:ext uri="{FF2B5EF4-FFF2-40B4-BE49-F238E27FC236}">
                <a16:creationId xmlns:a16="http://schemas.microsoft.com/office/drawing/2014/main" id="{102D1E28-49E4-4DCA-9E7E-E29C78F7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section-accent-1">
            <a:extLst xmlns:a="http://schemas.openxmlformats.org/drawingml/2006/main">
              <a:ext uri="{FF2B5EF4-FFF2-40B4-BE49-F238E27FC236}">
                <a16:creationId xmlns:a16="http://schemas.microsoft.com/office/drawing/2014/main" id="{D835EAB4-9ECB-4779-BFE4-1EC7E6A0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7897F-12BC-435F-9373-92FD25B0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Privacy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25AC6-203F-45BD-90F9-B2AA6B83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Sensitive data, consent, anonymization, access limits.</a:t>
            </a:r>
          </a:p>
        </p:txBody>
      </p:sp>
      <p:sp>
        <p:nvSpPr>
          <p:cNvPr id="17" name="section-2">
            <a:extLst xmlns:a="http://schemas.openxmlformats.org/drawingml/2006/main">
              <a:ext uri="{FF2B5EF4-FFF2-40B4-BE49-F238E27FC236}">
                <a16:creationId xmlns:a16="http://schemas.microsoft.com/office/drawing/2014/main" id="{3C0D61DB-3283-4852-9852-BBF0FCA6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ection-accent-2">
            <a:extLst xmlns:a="http://schemas.openxmlformats.org/drawingml/2006/main">
              <a:ext uri="{FF2B5EF4-FFF2-40B4-BE49-F238E27FC236}">
                <a16:creationId xmlns:a16="http://schemas.microsoft.com/office/drawing/2014/main" id="{3EA5F0FF-307A-499A-9286-2667325E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8F"/>
          </a:solidFill>
          <a:ln xmlns:a="http://schemas.openxmlformats.org/drawingml/2006/main" w="9525">
            <a:solidFill>
              <a:srgbClr val="466A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A4B0F-85A7-4C43-87B1-C3EA44F1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Scalability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200F1-B926-4497-8734-4062389E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How will users grow without redesign?</a:t>
            </a:r>
          </a:p>
        </p:txBody>
      </p:sp>
      <p:sp>
        <p:nvSpPr>
          <p:cNvPr id="21" name="section-3">
            <a:extLst xmlns:a="http://schemas.openxmlformats.org/drawingml/2006/main">
              <a:ext uri="{FF2B5EF4-FFF2-40B4-BE49-F238E27FC236}">
                <a16:creationId xmlns:a16="http://schemas.microsoft.com/office/drawing/2014/main" id="{854240E3-4C53-4276-8BAE-0308F7D3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section-accent-3">
            <a:extLst xmlns:a="http://schemas.openxmlformats.org/drawingml/2006/main">
              <a:ext uri="{FF2B5EF4-FFF2-40B4-BE49-F238E27FC236}">
                <a16:creationId xmlns:a16="http://schemas.microsoft.com/office/drawing/2014/main" id="{F1B6917B-0A54-4D60-A793-AC69A205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D"/>
          </a:solidFill>
          <a:ln xmlns:a="http://schemas.openxmlformats.org/drawingml/2006/main" w="9525">
            <a:solidFill>
              <a:srgbClr val="7C95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59527-8420-42E6-8473-6A63D7C7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Cost Awareness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A1041-5AC1-4E27-968A-9F573908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29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Free tier, managed services, storage/API usage limits.</a:t>
            </a:r>
          </a:p>
        </p:txBody>
      </p:sp>
      <p:sp>
        <p:nvSpPr>
          <p:cNvPr id="25" name="delete-guidance-tab">
            <a:extLst xmlns:a="http://schemas.openxmlformats.org/drawingml/2006/main">
              <a:ext uri="{FF2B5EF4-FFF2-40B4-BE49-F238E27FC236}">
                <a16:creationId xmlns:a16="http://schemas.microsoft.com/office/drawing/2014/main" id="{DC1C878F-6A55-44EE-BF12-FA9D05BF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9A1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453A5C-95E2-45F3-B6D3-93853327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34075"/>
            <a:ext cx="998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8A4B18"/>
                </a:solidFill>
              </a:defRPr>
            </a:pPr>
            <a:r>
              <a:rPr sz="1013" b="1">
                <a:solidFill>
                  <a:srgbClr val="8A4B18"/>
                </a:solidFill>
              </a:rPr>
              <a:t>Guidance - delete before presentation: Present decisions, not generic definitions. Tie every point to the capstone.</a:t>
            </a:r>
          </a:p>
        </p:txBody>
      </p:sp>
    </p:spTree>
    <p:extLst>
      <p:ext uri="{BB962C8B-B14F-4D97-AF65-F5344CB8AC3E}">
        <p14:creationId xmlns:p14="http://schemas.microsoft.com/office/powerpoint/2010/main" val="2045647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8B3E1008-39B5-4A25-9488-EB487865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751E5CA-B074-42F1-A386-9D0F5711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e8f31edf64ac5"/>
          <a:stretch xmlns:a="http://schemas.openxmlformats.org/drawingml/2006/main"/>
        </p:blipFill>
        <p:spPr>
          <a:xfrm xmlns:a="http://schemas.openxmlformats.org/drawingml/2006/main">
            <a:off x="609600" y="255890"/>
            <a:ext cx="2095500" cy="26927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CBCA2-0516-45B8-A833-96467A31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9315C-919B-45E0-B35C-5D0BD57D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09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175D69-6F3D-4AD0-90C5-265FB06E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Implementation Stack and Deployment Evidence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1D1C179-41A3-4ACE-BDFA-CAEA02AE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implementation stack shows how the design will be built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6273D-A5C4-4C0E-AA7E-61F42C05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 xmlns:a="http://schemas.openxmlformats.org/drawingml/2006/main">
              <a:ext uri="{FF2B5EF4-FFF2-40B4-BE49-F238E27FC236}">
                <a16:creationId xmlns:a16="http://schemas.microsoft.com/office/drawing/2014/main" id="{698549BF-3C50-4AAB-9C74-FA1D2852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ection-accent-0">
            <a:extLst xmlns:a="http://schemas.openxmlformats.org/drawingml/2006/main">
              <a:ext uri="{FF2B5EF4-FFF2-40B4-BE49-F238E27FC236}">
                <a16:creationId xmlns:a16="http://schemas.microsoft.com/office/drawing/2014/main" id="{72D277FE-086C-47EE-85C7-F7F6B951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A63FB-B5E9-4EFF-B730-B6C6BFB9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Mobile / Web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F93FE-C89D-4BED-807C-DC9084F7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Android, iOS, Flutter, React, or web frontend.</a:t>
            </a:r>
          </a:p>
        </p:txBody>
      </p:sp>
      <p:sp>
        <p:nvSpPr>
          <p:cNvPr id="13" name="section-1">
            <a:extLst xmlns:a="http://schemas.openxmlformats.org/drawingml/2006/main">
              <a:ext uri="{FF2B5EF4-FFF2-40B4-BE49-F238E27FC236}">
                <a16:creationId xmlns:a16="http://schemas.microsoft.com/office/drawing/2014/main" id="{26E5BAE0-418B-4A3D-AA03-E7E8BE17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section-accent-1">
            <a:extLst xmlns:a="http://schemas.openxmlformats.org/drawingml/2006/main">
              <a:ext uri="{FF2B5EF4-FFF2-40B4-BE49-F238E27FC236}">
                <a16:creationId xmlns:a16="http://schemas.microsoft.com/office/drawing/2014/main" id="{5C390268-71A8-4F9D-8C03-5E342F47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D9CF9-1B3C-4D05-B46B-9E16FD11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Cloud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FF704-0DAE-4A78-984C-3B8289E0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Compute, database, storage, authentication, analytics, API tools.</a:t>
            </a:r>
          </a:p>
        </p:txBody>
      </p:sp>
      <p:sp>
        <p:nvSpPr>
          <p:cNvPr id="17" name="section-2">
            <a:extLst xmlns:a="http://schemas.openxmlformats.org/drawingml/2006/main">
              <a:ext uri="{FF2B5EF4-FFF2-40B4-BE49-F238E27FC236}">
                <a16:creationId xmlns:a16="http://schemas.microsoft.com/office/drawing/2014/main" id="{EA679B24-C089-41F2-BEA1-D3482A98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ection-accent-2">
            <a:extLst xmlns:a="http://schemas.openxmlformats.org/drawingml/2006/main">
              <a:ext uri="{FF2B5EF4-FFF2-40B4-BE49-F238E27FC236}">
                <a16:creationId xmlns:a16="http://schemas.microsoft.com/office/drawing/2014/main" id="{F7A08555-7BD1-42A9-A68B-52CBBB3B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8F"/>
          </a:solidFill>
          <a:ln xmlns:a="http://schemas.openxmlformats.org/drawingml/2006/main" w="9525">
            <a:solidFill>
              <a:srgbClr val="466A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ED649-29E9-40F2-B7D9-57E7EB56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B3C68-EB8A-4FCF-888C-01324134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GitHub, API test, cloud dashboard, endpoint, logs, or deployment URL.</a:t>
            </a:r>
          </a:p>
        </p:txBody>
      </p:sp>
      <p:sp>
        <p:nvSpPr>
          <p:cNvPr id="21" name="section-3">
            <a:extLst xmlns:a="http://schemas.openxmlformats.org/drawingml/2006/main">
              <a:ext uri="{FF2B5EF4-FFF2-40B4-BE49-F238E27FC236}">
                <a16:creationId xmlns:a16="http://schemas.microsoft.com/office/drawing/2014/main" id="{13E380AF-E56F-40BB-94FC-D85EACD7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section-accent-3">
            <a:extLst xmlns:a="http://schemas.openxmlformats.org/drawingml/2006/main">
              <a:ext uri="{FF2B5EF4-FFF2-40B4-BE49-F238E27FC236}">
                <a16:creationId xmlns:a16="http://schemas.microsoft.com/office/drawing/2014/main" id="{66505130-7D44-4F50-9FD1-F83EF6C0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D"/>
          </a:solidFill>
          <a:ln xmlns:a="http://schemas.openxmlformats.org/drawingml/2006/main" w="9525">
            <a:solidFill>
              <a:srgbClr val="7C95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7F7C1-347F-4C1D-8EB9-A61CC5CB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Version 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C09558-B0CE-439C-A804-3E5252B7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29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Repository structure, commits, branches, and README clarity.</a:t>
            </a:r>
          </a:p>
        </p:txBody>
      </p:sp>
      <p:sp>
        <p:nvSpPr>
          <p:cNvPr id="25" name="delete-guidance-tab">
            <a:extLst xmlns:a="http://schemas.openxmlformats.org/drawingml/2006/main">
              <a:ext uri="{FF2B5EF4-FFF2-40B4-BE49-F238E27FC236}">
                <a16:creationId xmlns:a16="http://schemas.microsoft.com/office/drawing/2014/main" id="{6D571B30-A5D2-4F38-BB5A-B5EB2446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9A1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B6466F-E7AD-4570-88D9-A3B15FC9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34075"/>
            <a:ext cx="998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8A4B18"/>
                </a:solidFill>
              </a:defRPr>
            </a:pPr>
            <a:r>
              <a:rPr sz="1013" b="1">
                <a:solidFill>
                  <a:srgbClr val="8A4B18"/>
                </a:solidFill>
              </a:rPr>
              <a:t>Guidance - delete before presentation: Show real evidence. One clear screenshot is better than many unreadable screenshots.</a:t>
            </a:r>
          </a:p>
        </p:txBody>
      </p:sp>
    </p:spTree>
    <p:extLst>
      <p:ext uri="{BB962C8B-B14F-4D97-AF65-F5344CB8AC3E}">
        <p14:creationId xmlns:p14="http://schemas.microsoft.com/office/powerpoint/2010/main" val="8921010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E73B7E7C-E467-464F-9065-C22D280C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65B18279-0AA2-4935-B053-CE65CC31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a7072cbc446f9"/>
          <a:stretch xmlns:a="http://schemas.openxmlformats.org/drawingml/2006/main"/>
        </p:blipFill>
        <p:spPr>
          <a:xfrm xmlns:a="http://schemas.openxmlformats.org/drawingml/2006/main">
            <a:off x="609600" y="255890"/>
            <a:ext cx="2095500" cy="26927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39803-171C-41B6-8C56-A61C34A8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99319-599B-42F4-BDDF-565A4133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10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E66A6B-CB86-457E-84A1-2D2F5FC6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Demo Storyboard and User Journey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1E46DE1-9E16-478F-BDF5-452EA6BE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 complete user journey proves the product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15C7E-D66D-4422-A768-C559E793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scene-0">
            <a:extLst xmlns:a="http://schemas.openxmlformats.org/drawingml/2006/main">
              <a:ext uri="{FF2B5EF4-FFF2-40B4-BE49-F238E27FC236}">
                <a16:creationId xmlns:a16="http://schemas.microsoft.com/office/drawing/2014/main" id="{4A399A35-06E2-4B44-B678-EF436C98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0B790-2C60-4A28-8EAD-1CD6DADC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9DE71-485E-474A-A36B-5B694422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User action -&gt; system response -&gt; cloud component touched</a:t>
            </a:r>
          </a:p>
        </p:txBody>
      </p:sp>
      <p:sp>
        <p:nvSpPr>
          <p:cNvPr id="12" name="scene-1">
            <a:extLst xmlns:a="http://schemas.openxmlformats.org/drawingml/2006/main">
              <a:ext uri="{FF2B5EF4-FFF2-40B4-BE49-F238E27FC236}">
                <a16:creationId xmlns:a16="http://schemas.microsoft.com/office/drawing/2014/main" id="{57610830-CC1E-445A-B330-1A090238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8115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8F28E-4EC9-40A3-B6D5-51BA5FE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33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2BB8A-36C2-4F75-903E-576E3BBC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User action -&gt; system response -&gt; cloud component touched</a:t>
            </a:r>
          </a:p>
        </p:txBody>
      </p:sp>
      <p:sp>
        <p:nvSpPr>
          <p:cNvPr id="15" name="scene-2">
            <a:extLst xmlns:a="http://schemas.openxmlformats.org/drawingml/2006/main">
              <a:ext uri="{FF2B5EF4-FFF2-40B4-BE49-F238E27FC236}">
                <a16:creationId xmlns:a16="http://schemas.microsoft.com/office/drawing/2014/main" id="{9EFC1303-C329-4EEE-8C0A-6AD831AC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2BDD7-5D72-4FF6-882A-AB458C0F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946EE-35CB-431B-B6AC-1B3C7E64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User action -&gt; system response -&gt; cloud component touched</a:t>
            </a:r>
          </a:p>
        </p:txBody>
      </p:sp>
      <p:sp>
        <p:nvSpPr>
          <p:cNvPr id="18" name="scene-3">
            <a:extLst xmlns:a="http://schemas.openxmlformats.org/drawingml/2006/main">
              <a:ext uri="{FF2B5EF4-FFF2-40B4-BE49-F238E27FC236}">
                <a16:creationId xmlns:a16="http://schemas.microsoft.com/office/drawing/2014/main" id="{50BB0E8D-64F6-4711-90BC-2643DBFA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D52517-EAC7-4E2D-AEA5-89E791D2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F18EC-E4BC-4A9F-92F8-563E9998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User action -&gt; system response -&gt; cloud component touched</a:t>
            </a:r>
          </a:p>
        </p:txBody>
      </p:sp>
      <p:sp>
        <p:nvSpPr>
          <p:cNvPr id="21" name="scene-4">
            <a:extLst xmlns:a="http://schemas.openxmlformats.org/drawingml/2006/main">
              <a:ext uri="{FF2B5EF4-FFF2-40B4-BE49-F238E27FC236}">
                <a16:creationId xmlns:a16="http://schemas.microsoft.com/office/drawing/2014/main" id="{CF7AB114-69F1-4BA3-8C77-C928B5F0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A94E4A-2827-4FFF-AF57-92EB49E5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E9D02-E860-4089-8E79-E78A175B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User action -&gt; system response -&gt; cloud component touched</a:t>
            </a:r>
          </a:p>
        </p:txBody>
      </p:sp>
      <p:sp>
        <p:nvSpPr>
          <p:cNvPr id="24" name="scene-5">
            <a:extLst xmlns:a="http://schemas.openxmlformats.org/drawingml/2006/main">
              <a:ext uri="{FF2B5EF4-FFF2-40B4-BE49-F238E27FC236}">
                <a16:creationId xmlns:a16="http://schemas.microsoft.com/office/drawing/2014/main" id="{D14E2B8A-9E70-41CE-83BE-DB1C8ED8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3143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82D24-30BF-4C2E-A33F-392576E1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5C574E-574B-4599-8F92-5C37FA2C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User action -&gt; system response -&gt; cloud component touched</a:t>
            </a:r>
          </a:p>
        </p:txBody>
      </p:sp>
      <p:sp>
        <p:nvSpPr>
          <p:cNvPr id="27" name="delete-guidance-tab">
            <a:extLst xmlns:a="http://schemas.openxmlformats.org/drawingml/2006/main">
              <a:ext uri="{FF2B5EF4-FFF2-40B4-BE49-F238E27FC236}">
                <a16:creationId xmlns:a16="http://schemas.microsoft.com/office/drawing/2014/main" id="{FA76F50D-D179-4041-B0EC-1718D8DB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9A1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46FA2C-5BC7-4273-80D6-8B0717C6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34075"/>
            <a:ext cx="998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8A4B18"/>
                </a:solidFill>
              </a:defRPr>
            </a:pPr>
            <a:r>
              <a:rPr sz="1013" b="1">
                <a:solidFill>
                  <a:srgbClr val="8A4B18"/>
                </a:solidFill>
              </a:rPr>
              <a:t>Guidance - delete before presentation: Show the product journey. Each scene should connect user action, system response, and cloud component.</a:t>
            </a:r>
          </a:p>
        </p:txBody>
      </p:sp>
    </p:spTree>
    <p:extLst>
      <p:ext uri="{BB962C8B-B14F-4D97-AF65-F5344CB8AC3E}">
        <p14:creationId xmlns:p14="http://schemas.microsoft.com/office/powerpoint/2010/main" val="11256432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1C0C4E3B-8514-4773-9A03-BBE4BB76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693CE99-C685-4C23-B8A6-0505DABF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dcdd1f9384da4"/>
          <a:stretch xmlns:a="http://schemas.openxmlformats.org/drawingml/2006/main"/>
        </p:blipFill>
        <p:spPr>
          <a:xfrm xmlns:a="http://schemas.openxmlformats.org/drawingml/2006/main">
            <a:off x="609600" y="255890"/>
            <a:ext cx="2095500" cy="26927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F81E8-DB48-4041-BDD8-196DF3D7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E6819-ECB1-47D9-876E-90678236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11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925C87-0D24-473F-8B09-9D9D7034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Evaluation Readiness Checklist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5149FA0-E58B-469E-B3F8-D91D3F3B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evidence confirms that the presentation is 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5290F-B796-4573-B536-F05E7DD1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check-0">
            <a:extLst xmlns:a="http://schemas.openxmlformats.org/drawingml/2006/main">
              <a:ext uri="{FF2B5EF4-FFF2-40B4-BE49-F238E27FC236}">
                <a16:creationId xmlns:a16="http://schemas.microsoft.com/office/drawing/2014/main" id="{34F4DCF6-D96D-4636-AF25-96E6C834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10" name="box-0">
            <a:extLst xmlns:a="http://schemas.openxmlformats.org/drawingml/2006/main">
              <a:ext uri="{FF2B5EF4-FFF2-40B4-BE49-F238E27FC236}">
                <a16:creationId xmlns:a16="http://schemas.microsoft.com/office/drawing/2014/main" id="{36339B1F-4ACB-4A6A-84E6-32930F55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285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08A67-1A26-4AE7-9C6C-D7E85922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907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Cloud ecosystem and service model explained</a:t>
            </a:r>
          </a:p>
        </p:txBody>
      </p:sp>
      <p:sp>
        <p:nvSpPr>
          <p:cNvPr id="12" name="check-1">
            <a:extLst xmlns:a="http://schemas.openxmlformats.org/drawingml/2006/main">
              <a:ext uri="{FF2B5EF4-FFF2-40B4-BE49-F238E27FC236}">
                <a16:creationId xmlns:a16="http://schemas.microsoft.com/office/drawing/2014/main" id="{4DFC73CF-FCAB-4F34-84B2-8B226095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13" name="box-1">
            <a:extLst xmlns:a="http://schemas.openxmlformats.org/drawingml/2006/main">
              <a:ext uri="{FF2B5EF4-FFF2-40B4-BE49-F238E27FC236}">
                <a16:creationId xmlns:a16="http://schemas.microsoft.com/office/drawing/2014/main" id="{D068A761-0202-4A2A-A3C1-E1DDD963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285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29905-CD48-4566-8C8C-65620A49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REST/SOAP/API role connected to capstone</a:t>
            </a:r>
          </a:p>
        </p:txBody>
      </p:sp>
      <p:sp>
        <p:nvSpPr>
          <p:cNvPr id="15" name="check-2">
            <a:extLst xmlns:a="http://schemas.openxmlformats.org/drawingml/2006/main">
              <a:ext uri="{FF2B5EF4-FFF2-40B4-BE49-F238E27FC236}">
                <a16:creationId xmlns:a16="http://schemas.microsoft.com/office/drawing/2014/main" id="{230B551B-1E3F-4CFD-871C-DE8A0551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16" name="box-2">
            <a:extLst xmlns:a="http://schemas.openxmlformats.org/drawingml/2006/main">
              <a:ext uri="{FF2B5EF4-FFF2-40B4-BE49-F238E27FC236}">
                <a16:creationId xmlns:a16="http://schemas.microsoft.com/office/drawing/2014/main" id="{6EF12FA9-2D35-468F-B05C-AB68E0A7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285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4D5AB-74AF-422E-B946-107A074D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243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Architecture has compute, data, storage, security, monitoring</a:t>
            </a:r>
          </a:p>
        </p:txBody>
      </p:sp>
      <p:sp>
        <p:nvSpPr>
          <p:cNvPr id="18" name="check-3">
            <a:extLst xmlns:a="http://schemas.openxmlformats.org/drawingml/2006/main">
              <a:ext uri="{FF2B5EF4-FFF2-40B4-BE49-F238E27FC236}">
                <a16:creationId xmlns:a16="http://schemas.microsoft.com/office/drawing/2014/main" id="{3AD4B6B2-2FFC-4382-8228-CC209BD6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19" name="box-3">
            <a:extLst xmlns:a="http://schemas.openxmlformats.org/drawingml/2006/main">
              <a:ext uri="{FF2B5EF4-FFF2-40B4-BE49-F238E27FC236}">
                <a16:creationId xmlns:a16="http://schemas.microsoft.com/office/drawing/2014/main" id="{75C43450-050D-44C6-A5AE-9F6D805B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285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A6D79-4379-4554-96FE-74C201FB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907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Elasticity and scalability decisions are visible</a:t>
            </a:r>
          </a:p>
        </p:txBody>
      </p:sp>
      <p:sp>
        <p:nvSpPr>
          <p:cNvPr id="21" name="check-4">
            <a:extLst xmlns:a="http://schemas.openxmlformats.org/drawingml/2006/main">
              <a:ext uri="{FF2B5EF4-FFF2-40B4-BE49-F238E27FC236}">
                <a16:creationId xmlns:a16="http://schemas.microsoft.com/office/drawing/2014/main" id="{E5AD4F2E-CB3A-4146-824A-BA8A2699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22" name="box-4">
            <a:extLst xmlns:a="http://schemas.openxmlformats.org/drawingml/2006/main">
              <a:ext uri="{FF2B5EF4-FFF2-40B4-BE49-F238E27FC236}">
                <a16:creationId xmlns:a16="http://schemas.microsoft.com/office/drawing/2014/main" id="{B5B1D504-E839-45FB-9E72-F3FD0AAD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285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9720A3-8DE0-4055-B295-602EC483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GitHub and cloud evidence are inspectable</a:t>
            </a:r>
          </a:p>
        </p:txBody>
      </p:sp>
      <p:sp>
        <p:nvSpPr>
          <p:cNvPr id="24" name="check-5">
            <a:extLst xmlns:a="http://schemas.openxmlformats.org/drawingml/2006/main">
              <a:ext uri="{FF2B5EF4-FFF2-40B4-BE49-F238E27FC236}">
                <a16:creationId xmlns:a16="http://schemas.microsoft.com/office/drawing/2014/main" id="{ACFB9D9B-7883-4DB3-B5DD-36EEF1A2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</p:sp>
      <p:sp>
        <p:nvSpPr>
          <p:cNvPr id="25" name="box-5">
            <a:extLst xmlns:a="http://schemas.openxmlformats.org/drawingml/2006/main">
              <a:ext uri="{FF2B5EF4-FFF2-40B4-BE49-F238E27FC236}">
                <a16:creationId xmlns:a16="http://schemas.microsoft.com/office/drawing/2014/main" id="{E0F43598-3B17-4CA3-9FD8-1190DEE9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81450"/>
            <a:ext cx="285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BA247-5AF3-451D-843A-DA115C0F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243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References and integrity statement are included</a:t>
            </a:r>
          </a:p>
        </p:txBody>
      </p:sp>
      <p:sp>
        <p:nvSpPr>
          <p:cNvPr id="27" name="Evaluator Focus-panel">
            <a:extLst xmlns:a="http://schemas.openxmlformats.org/drawingml/2006/main">
              <a:ext uri="{FF2B5EF4-FFF2-40B4-BE49-F238E27FC236}">
                <a16:creationId xmlns:a16="http://schemas.microsoft.com/office/drawing/2014/main" id="{4C4C0A62-3C8C-48C4-A196-D1591DCC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Evaluator Focus-bar">
            <a:extLst xmlns:a="http://schemas.openxmlformats.org/drawingml/2006/main">
              <a:ext uri="{FF2B5EF4-FFF2-40B4-BE49-F238E27FC236}">
                <a16:creationId xmlns:a16="http://schemas.microsoft.com/office/drawing/2014/main" id="{72452345-1CDB-46A8-886D-484547A3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320680-4D67-45A9-B736-14C03ED3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43500"/>
            <a:ext cx="765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Evaluator Focus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CA4E37-EADA-4646-8462-FF3E43AD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43550"/>
            <a:ext cx="7658100" cy="-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CO1 is verified through cloud design reasoning, service choices, evidence, and individual explanation.</a:t>
            </a:r>
          </a:p>
        </p:txBody>
      </p:sp>
      <p:sp>
        <p:nvSpPr>
          <p:cNvPr id="31" name="delete-guidance-tab">
            <a:extLst xmlns:a="http://schemas.openxmlformats.org/drawingml/2006/main">
              <a:ext uri="{FF2B5EF4-FFF2-40B4-BE49-F238E27FC236}">
                <a16:creationId xmlns:a16="http://schemas.microsoft.com/office/drawing/2014/main" id="{2AD87F1E-350D-4A3C-A381-391333A5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9A15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BCCDC4-CAD9-457F-BB0D-8A48D37A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34075"/>
            <a:ext cx="998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8A4B18"/>
                </a:solidFill>
              </a:defRPr>
            </a:pPr>
            <a:r>
              <a:rPr sz="1013" b="1">
                <a:solidFill>
                  <a:srgbClr val="8A4B18"/>
                </a:solidFill>
              </a:rPr>
              <a:t>Guidance - delete before presentation: Use this as a self-check slide while preparing. Delete the guidance tab before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2402865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876793B5-B486-42E4-8852-103A61EB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65D318C5-0AC5-48FF-A495-48C41346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752e75b9e4dab"/>
          <a:stretch xmlns:a="http://schemas.openxmlformats.org/drawingml/2006/main"/>
        </p:blipFill>
        <p:spPr>
          <a:xfrm xmlns:a="http://schemas.openxmlformats.org/drawingml/2006/main">
            <a:off x="609600" y="255890"/>
            <a:ext cx="2095500" cy="26927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C36FE-6878-4E9C-901A-082C1FCA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CA182-99C2-4972-BB13-131BFDC0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12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2E967D-8CE4-4A04-B9B4-6E9C4D65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Conclusion, Limitations and Future Scope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8974622-4853-4A16-8858-0EF72FD1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We close with learning, limitations and next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F866D-DB12-404B-A34D-0DD4A414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 xmlns:a="http://schemas.openxmlformats.org/drawingml/2006/main">
              <a:ext uri="{FF2B5EF4-FFF2-40B4-BE49-F238E27FC236}">
                <a16:creationId xmlns:a16="http://schemas.microsoft.com/office/drawing/2014/main" id="{C0361BCA-A437-4784-9AD1-D68A8413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ection-accent-0">
            <a:extLst xmlns:a="http://schemas.openxmlformats.org/drawingml/2006/main">
              <a:ext uri="{FF2B5EF4-FFF2-40B4-BE49-F238E27FC236}">
                <a16:creationId xmlns:a16="http://schemas.microsoft.com/office/drawing/2014/main" id="{65DF8835-4188-4A86-9DBA-2F0BFB42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F8367-70F2-431C-A63F-AAB44121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Learning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115AB-7EF5-43BF-91F9-B39FDF58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What cloud concepts did the project make clear?</a:t>
            </a:r>
          </a:p>
        </p:txBody>
      </p:sp>
      <p:sp>
        <p:nvSpPr>
          <p:cNvPr id="13" name="section-1">
            <a:extLst xmlns:a="http://schemas.openxmlformats.org/drawingml/2006/main">
              <a:ext uri="{FF2B5EF4-FFF2-40B4-BE49-F238E27FC236}">
                <a16:creationId xmlns:a16="http://schemas.microsoft.com/office/drawing/2014/main" id="{4B7667F0-2862-47B5-849B-1AC6F753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section-accent-1">
            <a:extLst xmlns:a="http://schemas.openxmlformats.org/drawingml/2006/main">
              <a:ext uri="{FF2B5EF4-FFF2-40B4-BE49-F238E27FC236}">
                <a16:creationId xmlns:a16="http://schemas.microsoft.com/office/drawing/2014/main" id="{A2E55186-C340-4C47-8162-4B6587F2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90"/>
          </a:solidFill>
          <a:ln xmlns:a="http://schemas.openxmlformats.org/drawingml/2006/main" w="9525">
            <a:solidFill>
              <a:srgbClr val="2F669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6C06D-229A-4F11-A0AE-CBBCDF26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Limitations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EB3B2B-9112-4816-B6D7-FCE750B5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What remains incomplete or needs improvement?</a:t>
            </a:r>
          </a:p>
        </p:txBody>
      </p:sp>
      <p:sp>
        <p:nvSpPr>
          <p:cNvPr id="17" name="section-2">
            <a:extLst xmlns:a="http://schemas.openxmlformats.org/drawingml/2006/main">
              <a:ext uri="{FF2B5EF4-FFF2-40B4-BE49-F238E27FC236}">
                <a16:creationId xmlns:a16="http://schemas.microsoft.com/office/drawing/2014/main" id="{4EFF2DCC-027C-4A3B-A958-D558E245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ection-accent-2">
            <a:extLst xmlns:a="http://schemas.openxmlformats.org/drawingml/2006/main">
              <a:ext uri="{FF2B5EF4-FFF2-40B4-BE49-F238E27FC236}">
                <a16:creationId xmlns:a16="http://schemas.microsoft.com/office/drawing/2014/main" id="{0825E114-A09D-4CDB-A41A-45AB1464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A8F"/>
          </a:solidFill>
          <a:ln xmlns:a="http://schemas.openxmlformats.org/drawingml/2006/main" w="9525">
            <a:solidFill>
              <a:srgbClr val="466A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34146-BE1D-40D5-9BDD-44FBA461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Future Improvement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6BD62-2CAD-47DD-BD8F-D041F0F3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What will be improved before final capstone review?</a:t>
            </a:r>
          </a:p>
        </p:txBody>
      </p:sp>
      <p:sp>
        <p:nvSpPr>
          <p:cNvPr id="21" name="section-3">
            <a:extLst xmlns:a="http://schemas.openxmlformats.org/drawingml/2006/main">
              <a:ext uri="{FF2B5EF4-FFF2-40B4-BE49-F238E27FC236}">
                <a16:creationId xmlns:a16="http://schemas.microsoft.com/office/drawing/2014/main" id="{6C23C1F2-E5D7-436C-9B67-53C94DA5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section-accent-3">
            <a:extLst xmlns:a="http://schemas.openxmlformats.org/drawingml/2006/main">
              <a:ext uri="{FF2B5EF4-FFF2-40B4-BE49-F238E27FC236}">
                <a16:creationId xmlns:a16="http://schemas.microsoft.com/office/drawing/2014/main" id="{185B2B51-1501-411B-A39B-AD104B39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5AD"/>
          </a:solidFill>
          <a:ln xmlns:a="http://schemas.openxmlformats.org/drawingml/2006/main" w="9525">
            <a:solidFill>
              <a:srgbClr val="7C95A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E675E1-48DE-4CFC-88F5-B0B37032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Integrity Statement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8526A-31B8-4AD5-82E0-561822AB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29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Mention sources, tools, datasets, and any AI assistance acknowledged.</a:t>
            </a:r>
          </a:p>
        </p:txBody>
      </p:sp>
      <p:sp>
        <p:nvSpPr>
          <p:cNvPr id="25" name="delete-guidance-tab">
            <a:extLst xmlns:a="http://schemas.openxmlformats.org/drawingml/2006/main">
              <a:ext uri="{FF2B5EF4-FFF2-40B4-BE49-F238E27FC236}">
                <a16:creationId xmlns:a16="http://schemas.microsoft.com/office/drawing/2014/main" id="{FC3AE1F5-FEF9-4EC1-98DC-5A022469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9A1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0E45EF-DCF0-40EF-BFDF-237E615E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34075"/>
            <a:ext cx="998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8A4B18"/>
                </a:solidFill>
              </a:defRPr>
            </a:pPr>
            <a:r>
              <a:rPr sz="1013" b="1">
                <a:solidFill>
                  <a:srgbClr val="8A4B18"/>
                </a:solidFill>
              </a:rPr>
              <a:t>Guidance - delete before presentation: End with technical learning, not only a thank-you slide.</a:t>
            </a:r>
          </a:p>
        </p:txBody>
      </p:sp>
    </p:spTree>
    <p:extLst>
      <p:ext uri="{BB962C8B-B14F-4D97-AF65-F5344CB8AC3E}">
        <p14:creationId xmlns:p14="http://schemas.microsoft.com/office/powerpoint/2010/main" val="1177558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creator>Dr. C. Rajesh Babu</dc:creator>
  <cp:lastModifiedBy>Dr. C. Rajesh Babu (SSETSCS-415)</cp:lastModifiedBy>
  <dc:title>Presentation</dc:title>
  <ns2:created xsi:type="dcterms:W3CDTF">2026-07-09T20:50:04.4830000Z</ns2:created>
  <ns2:modified xsi:type="dcterms:W3CDTF">2026-07-09T20:50:04.4830000Z</ns2:modified>
  <cp:keywords>CSA15; Cloud Computing and Big Data Analytics; Dr. C. Rajesh Babu; SSETSCS-415</cp:keywords>
  <dc:subject>Owner: Dr. C. Rajesh Babu; Employee ID: SSETSCS-415</dc:subject>
</cp:coreProperties>
</file>